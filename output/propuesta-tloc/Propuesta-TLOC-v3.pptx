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762000"/>
            <a:ext cx="6000750" cy="495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  <a:defRPr sz="1100" b="1">
                <a:solidFill>
                  <a:srgbClr val="F43F5E"/>
                </a:solidFill>
                <a:latin typeface="Helvetica"/>
              </a:defRPr>
            </a:pPr>
            <a:r>
              <a:t>TLOC COOKIES &amp; BAKERY  •  PROPUESTA ESTRATÉGICA</a:t>
            </a:r>
          </a:p>
          <a:p>
            <a:pPr>
              <a:spcAft>
                <a:spcPts val="2000"/>
              </a:spcAft>
              <a:defRPr sz="3800" b="1">
                <a:solidFill>
                  <a:srgbClr val="FFFFFF"/>
                </a:solidFill>
                <a:latin typeface="Helvetica"/>
              </a:defRPr>
            </a:pPr>
            <a:r>
              <a:t>Tu marca merece una</a:t>
            </a:r>
            <a:br/>
            <a:r>
              <a:t>presencia digital al nivel</a:t>
            </a:r>
            <a:br/>
            <a:r>
              <a:t>de tus productos.</a:t>
            </a:r>
          </a:p>
          <a:p>
            <a:pPr>
              <a:spcAft>
                <a:spcPts val="3600"/>
              </a:spcAft>
              <a:defRPr sz="1600">
                <a:solidFill>
                  <a:srgbClr val="94A3B8"/>
                </a:solidFill>
                <a:latin typeface="Helvetica"/>
              </a:defRPr>
            </a:pPr>
            <a:r>
              <a:t>Diseño y puesta en línea de una landing page de alto impacto para convertir el interés de tus redes sociales en pedidos directos por WhatsApp.</a:t>
            </a:r>
          </a:p>
          <a:p>
            <a:pPr>
              <a:spcAft>
                <a:spcPts val="3600"/>
              </a:spcAft>
              <a:defRPr sz="1400" b="1">
                <a:solidFill>
                  <a:srgbClr val="FFFFFF"/>
                </a:solidFill>
                <a:latin typeface="Helvetica"/>
              </a:defRPr>
            </a:pPr>
            <a:r>
              <a:t>• Entrega en 14 días   • 100% Celular   • Pedidos en 1 Clic</a:t>
            </a:r>
          </a:p>
          <a:p>
            <a:pPr>
              <a:defRPr sz="1300">
                <a:solidFill>
                  <a:srgbClr val="64748B"/>
                </a:solidFill>
                <a:latin typeface="Helvetica"/>
              </a:defRPr>
            </a:pPr>
            <a:r>
              <a:t>Tacna, Perú  •  Septiembre 2026</a:t>
            </a:r>
          </a:p>
        </p:txBody>
      </p:sp>
      <p:pic>
        <p:nvPicPr>
          <p:cNvPr id="3" name="Picture 2" descr="cover_fra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762000"/>
            <a:ext cx="4762500" cy="5238750"/>
          </a:xfrm>
          <a:prstGeom prst="rect">
            <a:avLst/>
          </a:prstGeom>
        </p:spPr>
      </p:pic>
      <p:pic>
        <p:nvPicPr>
          <p:cNvPr id="4" name="Picture 3" descr="badge_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0" y="4381500"/>
            <a:ext cx="1619250" cy="1619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1095375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5FBE"/>
                </a:solidFill>
                <a:latin typeface="Helvetica"/>
              </a:defRPr>
            </a:pPr>
            <a:r>
              <a:t>OPORTUNIDAD 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47700"/>
            <a:ext cx="10953750" cy="495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Helvetica"/>
              </a:defRPr>
            </a:pPr>
            <a:r>
              <a:t>La competencia ya está en redes: es momento de liderar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5375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Helvetica"/>
              </a:defRPr>
            </a:pPr>
            <a:r>
              <a:t>Tus galletas son excepcionales. Una web propia consolida tu prestigio y elimina la fricción en ventas.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762125"/>
            <a:ext cx="438150" cy="3429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000" b="1">
                <a:solidFill>
                  <a:srgbClr val="2D5FBE"/>
                </a:solidFill>
                <a:latin typeface="Helvetica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762125"/>
            <a:ext cx="5143500" cy="1047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0F172A"/>
                </a:solidFill>
                <a:latin typeface="Helvetica"/>
              </a:defRPr>
            </a:pPr>
            <a:r>
              <a:t>Autoridad frente a la competencia</a:t>
            </a:r>
          </a:p>
          <a:p>
            <a:pPr>
              <a:defRPr sz="1300">
                <a:solidFill>
                  <a:srgbClr val="64748B"/>
                </a:solidFill>
                <a:latin typeface="Helvetica"/>
              </a:defRPr>
            </a:pPr>
            <a:r>
              <a:t>Diferénciate de negocios informales. Una web propia proyecta la solidez de una pastelería artesanal seria y referente en Tacna.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048000"/>
            <a:ext cx="438150" cy="3429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000" b="1">
                <a:solidFill>
                  <a:srgbClr val="2D5FBE"/>
                </a:solidFill>
                <a:latin typeface="Helvetica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048000"/>
            <a:ext cx="5143500" cy="1047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0F172A"/>
                </a:solidFill>
                <a:latin typeface="Helvetica"/>
              </a:defRPr>
            </a:pPr>
            <a:r>
              <a:t>Catálogo visual siempre a mano</a:t>
            </a:r>
          </a:p>
          <a:p>
            <a:pPr>
              <a:defRPr sz="1300">
                <a:solidFill>
                  <a:srgbClr val="64748B"/>
                </a:solidFill>
                <a:latin typeface="Helvetica"/>
              </a:defRPr>
            </a:pPr>
            <a:r>
              <a:t>Se acabaron los PDFs pesados y responder cartas por DM. Tus clientes ven sabores, fotos reales y boxes en 1 segundo.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333875"/>
            <a:ext cx="438150" cy="3429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000" b="1">
                <a:solidFill>
                  <a:srgbClr val="2D5FBE"/>
                </a:solidFill>
                <a:latin typeface="Helvetica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333875"/>
            <a:ext cx="5143500" cy="1047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0F172A"/>
                </a:solidFill>
                <a:latin typeface="Helvetica"/>
              </a:defRPr>
            </a:pPr>
            <a:r>
              <a:t>Ventas directas a WhatsApp</a:t>
            </a:r>
          </a:p>
          <a:p>
            <a:pPr>
              <a:defRPr sz="1300">
                <a:solidFill>
                  <a:srgbClr val="64748B"/>
                </a:solidFill>
                <a:latin typeface="Helvetica"/>
              </a:defRPr>
            </a:pPr>
            <a:r>
              <a:t>Cada botón dirige al cliente a tu chat con el pedido listo para coordinar entrega, cerrando ventas al instante.</a:t>
            </a:r>
          </a:p>
        </p:txBody>
      </p:sp>
      <p:pic>
        <p:nvPicPr>
          <p:cNvPr id="11" name="Picture 10" descr="cookie_fra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0" y="1714500"/>
            <a:ext cx="4857750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1095375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5FBE"/>
                </a:solidFill>
                <a:latin typeface="Helvetica"/>
              </a:defRPr>
            </a:pPr>
            <a:r>
              <a:t>EXPERIENCIA MULTIPANTALLA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47700"/>
            <a:ext cx="10953750" cy="495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Helvetica"/>
              </a:defRPr>
            </a:pPr>
            <a:r>
              <a:t>Diseñada para cautivar en celular y computadora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5375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Helvetica"/>
              </a:defRPr>
            </a:pPr>
            <a:r>
              <a:t>Carga instantánea, visualización atractiva y navegación optimizada para el tráfico de redes.</a:t>
            </a:r>
          </a:p>
        </p:txBody>
      </p:sp>
      <p:pic>
        <p:nvPicPr>
          <p:cNvPr id="5" name="Picture 4" descr="mockup_web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14500"/>
            <a:ext cx="6381750" cy="44767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39000" y="1762125"/>
            <a:ext cx="4381500" cy="12858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77125" y="1933575"/>
            <a:ext cx="3905250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  <a:latin typeface="Helvetica"/>
              </a:defRPr>
            </a:pPr>
            <a:r>
              <a:t>01  •  85% de visitas desde el celular</a:t>
            </a:r>
          </a:p>
          <a:p>
            <a:pPr>
              <a:defRPr sz="1300">
                <a:solidFill>
                  <a:srgbClr val="64748B"/>
                </a:solidFill>
                <a:latin typeface="Helvetica"/>
              </a:defRPr>
            </a:pPr>
            <a:r>
              <a:t>La página carga en milisegundos y está pensada para navegación ágil con una sola mano, ideal para Instagram y TikTok.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39000" y="3238500"/>
            <a:ext cx="4381500" cy="12858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77125" y="3409950"/>
            <a:ext cx="3905250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  <a:latin typeface="Helvetica"/>
              </a:defRPr>
            </a:pPr>
            <a:r>
              <a:t>02  •  Vitrina visual irresistible</a:t>
            </a:r>
          </a:p>
          <a:p>
            <a:pPr>
              <a:defRPr sz="1300">
                <a:solidFill>
                  <a:srgbClr val="64748B"/>
                </a:solidFill>
                <a:latin typeface="Helvetica"/>
              </a:defRPr>
            </a:pPr>
            <a:r>
              <a:t>Fotografía en alta definición de cada galleta, boxes de regalo y bebidas, organizadas para despertar antojo inmediato.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39000" y="4714875"/>
            <a:ext cx="4381500" cy="12858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77125" y="4886325"/>
            <a:ext cx="3905250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  <a:latin typeface="Helvetica"/>
              </a:defRPr>
            </a:pPr>
            <a:r>
              <a:t>03  •  El enlace oficial para tu Bio</a:t>
            </a:r>
          </a:p>
          <a:p>
            <a:pPr>
              <a:defRPr sz="1300">
                <a:solidFill>
                  <a:srgbClr val="64748B"/>
                </a:solidFill>
                <a:latin typeface="Helvetica"/>
              </a:defRPr>
            </a:pPr>
            <a:r>
              <a:t>Un solo link profesional en tus perfiles: centraliza catálogo, horarios, ubicación y pedidos en 1 toque.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1095375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5FBE"/>
                </a:solidFill>
                <a:latin typeface="Helvetica"/>
              </a:defRPr>
            </a:pPr>
            <a:r>
              <a:t>TIEMPO DE IMPLEMENTACIÓN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47700"/>
            <a:ext cx="10953750" cy="495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Helvetica"/>
              </a:defRPr>
            </a:pPr>
            <a:r>
              <a:t>Tu web lista en solo 2 semanas, sin quitarte tiempo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5375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Helvetica"/>
              </a:defRPr>
            </a:pPr>
            <a:r>
              <a:t>Proceso ágil y coordinado: tú nos facilitas fotos y datos, nosotros nos encargamos de todo el trabajo técnico.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714500"/>
            <a:ext cx="5905500" cy="1666875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D5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1866900"/>
            <a:ext cx="5476875" cy="1381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D5FBE"/>
                </a:solidFill>
                <a:latin typeface="Helvetica"/>
              </a:defRPr>
            </a:pPr>
            <a:r>
              <a:t>SEMANA 01  •  DÍAS 1 AL 7  —  CONTENIDO Y DISEÑO</a:t>
            </a:r>
          </a:p>
          <a:p>
            <a:pPr>
              <a:spcAft>
                <a:spcPts val="300"/>
              </a:spcAft>
              <a:defRPr sz="1300">
                <a:solidFill>
                  <a:srgbClr val="64748B"/>
                </a:solidFill>
                <a:latin typeface="Helvetica"/>
              </a:defRPr>
            </a:pPr>
            <a:r>
              <a:t>• Recepción de carta de productos, sabores, precios y fotos.</a:t>
            </a:r>
          </a:p>
          <a:p>
            <a:pPr>
              <a:spcAft>
                <a:spcPts val="300"/>
              </a:spcAft>
              <a:defRPr sz="1300">
                <a:solidFill>
                  <a:srgbClr val="64748B"/>
                </a:solidFill>
                <a:latin typeface="Helvetica"/>
              </a:defRPr>
            </a:pPr>
            <a:r>
              <a:t>• Definición y reserva del dominio oficial (ej. tloc.pe).</a:t>
            </a:r>
          </a:p>
          <a:p>
            <a:pPr>
              <a:spcAft>
                <a:spcPts val="300"/>
              </a:spcAft>
              <a:defRPr sz="1300">
                <a:solidFill>
                  <a:srgbClr val="64748B"/>
                </a:solidFill>
                <a:latin typeface="Helvetica"/>
              </a:defRPr>
            </a:pPr>
            <a:r>
              <a:t>• Diseño visual de la landing adaptado a la identidad de TLOC.</a:t>
            </a:r>
          </a:p>
          <a:p>
            <a:pPr>
              <a:spcAft>
                <a:spcPts val="300"/>
              </a:spcAft>
              <a:defRPr sz="1300">
                <a:solidFill>
                  <a:srgbClr val="64748B"/>
                </a:solidFill>
                <a:latin typeface="Helvetica"/>
              </a:defRPr>
            </a:pPr>
            <a:r>
              <a:t>• Primera revisión conjunta para afinar y validar el estilo.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3524250"/>
            <a:ext cx="5905500" cy="1666875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3676650"/>
            <a:ext cx="5476875" cy="1381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  <a:latin typeface="Helvetica"/>
              </a:defRPr>
            </a:pPr>
            <a:r>
              <a:t>SEMANA 02  •  DÍAS 8 AL 14  —  DESARROLLO Y ENTREGA</a:t>
            </a:r>
          </a:p>
          <a:p>
            <a:pPr>
              <a:spcAft>
                <a:spcPts val="300"/>
              </a:spcAft>
              <a:defRPr sz="1300">
                <a:solidFill>
                  <a:srgbClr val="64748B"/>
                </a:solidFill>
                <a:latin typeface="Helvetica"/>
              </a:defRPr>
            </a:pPr>
            <a:r>
              <a:t>• Programación web ultrarrápida y adaptada para celulares.</a:t>
            </a:r>
          </a:p>
          <a:p>
            <a:pPr>
              <a:spcAft>
                <a:spcPts val="300"/>
              </a:spcAft>
              <a:defRPr sz="1300">
                <a:solidFill>
                  <a:srgbClr val="64748B"/>
                </a:solidFill>
                <a:latin typeface="Helvetica"/>
              </a:defRPr>
            </a:pPr>
            <a:r>
              <a:t>• Configuración de botones de pedido directo a WhatsApp.</a:t>
            </a:r>
          </a:p>
          <a:p>
            <a:pPr>
              <a:spcAft>
                <a:spcPts val="300"/>
              </a:spcAft>
              <a:defRPr sz="1300">
                <a:solidFill>
                  <a:srgbClr val="64748B"/>
                </a:solidFill>
                <a:latin typeface="Helvetica"/>
              </a:defRPr>
            </a:pPr>
            <a:r>
              <a:t>• Integración de mapa, horarios de atención y redes sociales.</a:t>
            </a:r>
          </a:p>
          <a:p>
            <a:pPr>
              <a:spcAft>
                <a:spcPts val="300"/>
              </a:spcAft>
              <a:defRPr sz="1300">
                <a:solidFill>
                  <a:srgbClr val="64748B"/>
                </a:solidFill>
                <a:latin typeface="Helvetica"/>
              </a:defRPr>
            </a:pPr>
            <a:r>
              <a:t>• Pruebas finales, puesta en línea oficial y entrega de la landing.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" y="5334000"/>
            <a:ext cx="5905500" cy="809625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5505450"/>
            <a:ext cx="5619750" cy="4762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Compromiso total: Web lista para vender en 14 días calendario.</a:t>
            </a:r>
          </a:p>
        </p:txBody>
      </p:sp>
      <p:pic>
        <p:nvPicPr>
          <p:cNvPr id="11" name="Picture 10" descr="timeline_fra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0" y="1714500"/>
            <a:ext cx="4857750" cy="4429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1095375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Helvetica"/>
              </a:defRPr>
            </a:pPr>
            <a:r>
              <a:t>PLAN DE INVERSIÓN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47700"/>
            <a:ext cx="10953750" cy="495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Helvetica"/>
              </a:defRPr>
            </a:pPr>
            <a:r>
              <a:t>Inversión clara, accesible y con retorno inmediato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5375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Helvetica"/>
              </a:defRPr>
            </a:pPr>
            <a:r>
              <a:t>Sin costos ocultos ni letras chicas: una propuesta directa para hacer crecer la presencia de TLOC.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714500"/>
            <a:ext cx="6762750" cy="390525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1943100"/>
            <a:ext cx="123825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5350" y="1924050"/>
            <a:ext cx="6191250" cy="3524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59E0B"/>
                </a:solidFill>
                <a:latin typeface="Helvetica"/>
              </a:defRPr>
            </a:pPr>
            <a:r>
              <a:t>                     MAYOR VISIBILIDAD &amp; AUTORIDAD</a:t>
            </a:r>
          </a:p>
          <a:p>
            <a:pPr>
              <a:defRPr sz="1800" b="1">
                <a:solidFill>
                  <a:srgbClr val="0F172A"/>
                </a:solidFill>
                <a:latin typeface="Helvetica"/>
              </a:defRPr>
            </a:pPr>
            <a:r>
              <a:t>Landing Page Completa TLOC</a:t>
            </a:r>
          </a:p>
          <a:p>
            <a:pPr>
              <a:spcAft>
                <a:spcPts val="200"/>
              </a:spcAft>
              <a:defRPr sz="4600" b="1">
                <a:solidFill>
                  <a:srgbClr val="2D5FBE"/>
                </a:solidFill>
                <a:latin typeface="Helvetica"/>
              </a:defRPr>
            </a:pPr>
            <a:r>
              <a:t>S/ 499</a:t>
            </a:r>
          </a:p>
          <a:p>
            <a:pPr>
              <a:spcAft>
                <a:spcPts val="1400"/>
              </a:spcAft>
              <a:defRPr sz="1300">
                <a:solidFill>
                  <a:srgbClr val="64748B"/>
                </a:solidFill>
                <a:latin typeface="Helvetica"/>
              </a:defRPr>
            </a:pPr>
            <a:r>
              <a:t>Inversión única de diseño, desarrollo web y publicación.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Helvetica"/>
              </a:defRPr>
            </a:pPr>
            <a:r>
              <a:t>✓ Más presencia en redes: consolida a TLOC como marca formal y referente.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Helvetica"/>
              </a:defRPr>
            </a:pPr>
            <a:r>
              <a:t>✓ Catálogo interactivo: muestra tus galletas, boxes y bebidas con fotos irresistibles.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Helvetica"/>
              </a:defRPr>
            </a:pPr>
            <a:r>
              <a:t>✓ Pedidos en 1 clic: botón directo a tu WhatsApp con mensaje listo para enviar.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Helvetica"/>
              </a:defRPr>
            </a:pPr>
            <a:r>
              <a:t>✓ 100% responsiva: navegación rápida e impecable en celulares y computadoras.</a:t>
            </a:r>
          </a:p>
          <a:p>
            <a:pPr>
              <a:defRPr sz="1200" b="1">
                <a:solidFill>
                  <a:srgbClr val="2D5FBE"/>
                </a:solidFill>
                <a:latin typeface="Helvetica"/>
              </a:defRPr>
            </a:pPr>
            <a:r>
              <a:t>Dominio propio (ej. tloc.pe): USD 15 a 20 / año (registro oficial anual directo).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0" y="1714500"/>
            <a:ext cx="3962400" cy="390525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5750" y="1943100"/>
            <a:ext cx="3390900" cy="3524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43F5E"/>
                </a:solidFill>
                <a:latin typeface="Helvetica"/>
              </a:defRPr>
            </a:pPr>
            <a:r>
              <a:t>TRANQUILIDAD CONTINUA</a:t>
            </a:r>
          </a:p>
          <a:p>
            <a:pPr>
              <a:defRPr sz="1800" b="1">
                <a:solidFill>
                  <a:srgbClr val="FFFFFF"/>
                </a:solidFill>
                <a:latin typeface="Helvetica"/>
              </a:defRPr>
            </a:pPr>
            <a:r>
              <a:t>Soporte y Mantenimiento</a:t>
            </a:r>
          </a:p>
          <a:p>
            <a:pPr>
              <a:spcAft>
                <a:spcPts val="200"/>
              </a:spcAft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S/ 19 / mes</a:t>
            </a:r>
          </a:p>
          <a:p>
            <a:pPr>
              <a:spcAft>
                <a:spcPts val="1600"/>
              </a:spcAft>
              <a:defRPr sz="1200">
                <a:solidFill>
                  <a:srgbClr val="94A3B8"/>
                </a:solidFill>
                <a:latin typeface="Helvetica"/>
              </a:defRPr>
            </a:pPr>
            <a:r>
              <a:t>Mantenimiento mensual directo, sin enredos.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Helvetica"/>
              </a:defRPr>
            </a:pPr>
            <a:r>
              <a:t>✓ Cambios de precios o carta de productos.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Helvetica"/>
              </a:defRPr>
            </a:pPr>
            <a:r>
              <a:t>✓ Nuevos sabores de temporada y promociones.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Helvetica"/>
              </a:defRPr>
            </a:pPr>
            <a:r>
              <a:t>✓ Actualización de horarios y feriados.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Helvetica"/>
              </a:defRPr>
            </a:pPr>
            <a:r>
              <a:t>✓ Soporte y monitoreo técnico constante.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5857875"/>
            <a:ext cx="10972800" cy="533400"/>
          </a:xfrm>
          <a:prstGeom prst="roundRect">
            <a:avLst/>
          </a:prstGeom>
          <a:solidFill>
            <a:srgbClr val="0C122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5981700"/>
            <a:ext cx="10668000" cy="3429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Helvetica"/>
              </a:defRPr>
            </a:pPr>
            <a:r>
              <a:t>PASOS PARA INICIAR:   1. Visto bueno   •   2. Envío de fotos y carta   •   3. ¡Tu web lista en 2 semanas!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1095375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5FBE"/>
                </a:solidFill>
                <a:latin typeface="Helvetica"/>
              </a:defRPr>
            </a:pPr>
            <a:r>
              <a:t>PRÓXIMO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47700"/>
            <a:ext cx="10953750" cy="495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Helvetica"/>
              </a:defRPr>
            </a:pPr>
            <a:r>
              <a:t>Empecemos hoy: tu web al aire en 14 días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5375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Helvetica"/>
              </a:defRPr>
            </a:pPr>
            <a:r>
              <a:t>Solo necesitamos 3 pasos simples para arrancar de inmediato sin quitarte tiempo de operación.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762125"/>
            <a:ext cx="6000750" cy="1000125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625" y="1933575"/>
            <a:ext cx="428625" cy="333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D5FBE"/>
                </a:solidFill>
                <a:latin typeface="Helvetica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1914525"/>
            <a:ext cx="5048250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F172A"/>
                </a:solidFill>
                <a:latin typeface="Helvetica"/>
              </a:defRPr>
            </a:pPr>
            <a:r>
              <a:t>Confirmación de la propuesta</a:t>
            </a:r>
          </a:p>
          <a:p>
            <a:pPr>
              <a:defRPr sz="1200">
                <a:solidFill>
                  <a:srgbClr val="64748B"/>
                </a:solidFill>
                <a:latin typeface="Helvetica"/>
              </a:defRPr>
            </a:pPr>
            <a:r>
              <a:t>Aprobación del alcance y condiciones acordadas para reservar el inicio de tu proyecto.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952750"/>
            <a:ext cx="6000750" cy="1000125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625" y="3124200"/>
            <a:ext cx="428625" cy="333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D5FBE"/>
                </a:solidFill>
                <a:latin typeface="Helvetica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3500" y="3105150"/>
            <a:ext cx="5048250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F172A"/>
                </a:solidFill>
                <a:latin typeface="Helvetica"/>
              </a:defRPr>
            </a:pPr>
            <a:r>
              <a:t>Envío de material de TLOC</a:t>
            </a:r>
          </a:p>
          <a:p>
            <a:pPr>
              <a:defRPr sz="1200">
                <a:solidFill>
                  <a:srgbClr val="64748B"/>
                </a:solidFill>
                <a:latin typeface="Helvetica"/>
              </a:defRPr>
            </a:pPr>
            <a:r>
              <a:t>Nos compartes fotos de tus galletas, carta de sabores, precios y datos de atención.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4143375"/>
            <a:ext cx="6000750" cy="1000125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625" y="4314825"/>
            <a:ext cx="428625" cy="333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D5FBE"/>
                </a:solidFill>
                <a:latin typeface="Helvetica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3500" y="4295775"/>
            <a:ext cx="5048250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F172A"/>
                </a:solidFill>
                <a:latin typeface="Helvetica"/>
              </a:defRPr>
            </a:pPr>
            <a:r>
              <a:t>Dominio y Lanzamiento oficial</a:t>
            </a:r>
          </a:p>
          <a:p>
            <a:pPr>
              <a:defRPr sz="1200">
                <a:solidFill>
                  <a:srgbClr val="64748B"/>
                </a:solidFill>
                <a:latin typeface="Helvetica"/>
              </a:defRPr>
            </a:pPr>
            <a:r>
              <a:t>Elegimos el nombre web oficial (ej. tloc.pe) y en 14 días tu web está recibiendo pedidos.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" y="5476875"/>
            <a:ext cx="6000750" cy="76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D5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5667375"/>
            <a:ext cx="5715000" cy="4286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Helvetica"/>
              </a:defRPr>
            </a:pPr>
            <a:r>
              <a:t>¿Coordinamos el inicio esta semana para tener la web lista cuanto antes?</a:t>
            </a:r>
          </a:p>
        </p:txBody>
      </p:sp>
      <p:pic>
        <p:nvPicPr>
          <p:cNvPr id="16" name="Picture 15" descr="closing_fra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25" y="1714500"/>
            <a:ext cx="4667250" cy="45243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