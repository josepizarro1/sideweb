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FB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6191250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DAE6FF"/>
                </a:solidFill>
                <a:latin typeface="Helvetica"/>
              </a:defRPr>
            </a:pPr>
            <a:r>
              <a:t>TLOC / PROPUESTA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87100" y="6324600"/>
            <a:ext cx="47625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0">
                <a:solidFill>
                  <a:srgbClr val="DAE6FF"/>
                </a:solidFill>
                <a:latin typeface="Helvetica"/>
              </a:defRPr>
            </a:pPr>
            <a:r>
              <a:t>01</a:t>
            </a:r>
          </a:p>
        </p:txBody>
      </p:sp>
      <p:pic>
        <p:nvPicPr>
          <p:cNvPr id="4" name="Picture 3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450" y="0"/>
            <a:ext cx="516255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1219200"/>
            <a:ext cx="6000750" cy="1047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600" b="1">
                <a:solidFill>
                  <a:srgbClr val="FFFFFF"/>
                </a:solidFill>
                <a:latin typeface="Helvetica"/>
              </a:defRPr>
            </a:pPr>
            <a:r>
              <a:t>tloc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19375"/>
            <a:ext cx="6191250" cy="1504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Helvetica"/>
              </a:defRPr>
            </a:pPr>
            <a:r>
              <a:t>Propuesta de</a:t>
            </a:r>
            <a:br/>
            <a:r>
              <a:t>landing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4448175"/>
            <a:ext cx="5810250" cy="857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0">
                <a:solidFill>
                  <a:srgbClr val="EDF2FE"/>
                </a:solidFill>
                <a:latin typeface="Helvetica"/>
              </a:defRPr>
            </a:pPr>
            <a:r>
              <a:t>Una web para consolidar tu marca en redes</a:t>
            </a:r>
            <a:br/>
            <a:r>
              <a:t>y convertir visitas en pedidos directos por WhatsApp.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6076950"/>
            <a:ext cx="5524500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900" b="0">
                <a:solidFill>
                  <a:srgbClr val="DAE6FF"/>
                </a:solidFill>
                <a:latin typeface="Helvetica"/>
              </a:defRPr>
            </a:pPr>
            <a:r>
              <a:t>Septiembre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6191250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2D5FBE"/>
                </a:solidFill>
                <a:latin typeface="Helvetica"/>
              </a:defRPr>
            </a:pPr>
            <a:r>
              <a:t>TLOC / PROPUESTA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85825"/>
            <a:ext cx="10858500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600" b="1">
                <a:solidFill>
                  <a:srgbClr val="14223C"/>
                </a:solidFill>
                <a:latin typeface="Helvetica"/>
              </a:defRPr>
            </a:pPr>
            <a:r>
              <a:t>Una página para elegir y contactar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7100" y="6324600"/>
            <a:ext cx="47625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0">
                <a:solidFill>
                  <a:srgbClr val="596579"/>
                </a:solidFill>
                <a:latin typeface="Helvetica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133600"/>
            <a:ext cx="47625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>
                <a:solidFill>
                  <a:srgbClr val="2D5FBE"/>
                </a:solidFill>
                <a:latin typeface="Helvetica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2050" y="2133600"/>
            <a:ext cx="621030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14223C"/>
                </a:solidFill>
                <a:latin typeface="Helvetica"/>
              </a:defRPr>
            </a:pPr>
            <a:r>
              <a:t>Presencia frente a la competencia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2571750"/>
            <a:ext cx="6210300" cy="857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0">
                <a:solidFill>
                  <a:srgbClr val="596579"/>
                </a:solidFill>
                <a:latin typeface="Helvetica"/>
              </a:defRPr>
            </a:pPr>
            <a:r>
              <a:t>La competencia ya publica en redes. Una web propia</a:t>
            </a:r>
            <a:br/>
            <a:r>
              <a:t>proyecta formalidad, confianza y eleva tu marca.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543300"/>
            <a:ext cx="47625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>
                <a:solidFill>
                  <a:srgbClr val="2D5FBE"/>
                </a:solidFill>
                <a:latin typeface="Helvetica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2050" y="3543300"/>
            <a:ext cx="621030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14223C"/>
                </a:solidFill>
                <a:latin typeface="Helvetica"/>
              </a:defRPr>
            </a:pPr>
            <a:r>
              <a:t>Productos que se entienden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50" y="3981450"/>
            <a:ext cx="6210300" cy="857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0">
                <a:solidFill>
                  <a:srgbClr val="596579"/>
                </a:solidFill>
                <a:latin typeface="Helvetica"/>
              </a:defRPr>
            </a:pPr>
            <a:r>
              <a:t>Sabores, presentaciones y fotografías organizados</a:t>
            </a:r>
            <a:br/>
            <a:r>
              <a:t>en un solo lugar para elegir sin complicaciones.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953000"/>
            <a:ext cx="47625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>
                <a:solidFill>
                  <a:srgbClr val="2D5FBE"/>
                </a:solidFill>
                <a:latin typeface="Helvetica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4953000"/>
            <a:ext cx="621030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14223C"/>
                </a:solidFill>
                <a:latin typeface="Helvetica"/>
              </a:defRPr>
            </a:pPr>
            <a:r>
              <a:t>Pedido directo por WhatsApp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050" y="5391150"/>
            <a:ext cx="6210300" cy="857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0">
                <a:solidFill>
                  <a:srgbClr val="596579"/>
                </a:solidFill>
                <a:latin typeface="Helvetica"/>
              </a:defRPr>
            </a:pPr>
            <a:r>
              <a:t>Accesos visibles en cada sección para consultar</a:t>
            </a:r>
            <a:br/>
            <a:r>
              <a:t>disponibilidad y coordinar la venta al instante.</a:t>
            </a:r>
          </a:p>
        </p:txBody>
      </p:sp>
      <p:pic>
        <p:nvPicPr>
          <p:cNvPr id="14" name="Picture 13" descr="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000250"/>
            <a:ext cx="3524250" cy="3905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01000" y="6000750"/>
            <a:ext cx="352425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0">
                <a:solidFill>
                  <a:srgbClr val="596579"/>
                </a:solidFill>
                <a:latin typeface="Helvetica"/>
              </a:defRPr>
            </a:pPr>
            <a:r>
              <a:t>Referencia de contenido TLOC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6191250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2D5FBE"/>
                </a:solidFill>
                <a:latin typeface="Helvetica"/>
              </a:defRPr>
            </a:pPr>
            <a:r>
              <a:t>TLOC / PROPUESTA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85825"/>
            <a:ext cx="10858500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600" b="1">
                <a:solidFill>
                  <a:srgbClr val="14223C"/>
                </a:solidFill>
                <a:latin typeface="Helvetica"/>
              </a:defRPr>
            </a:pPr>
            <a:r>
              <a:t>La identidad de TLOC en celular y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7100" y="6324600"/>
            <a:ext cx="47625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0">
                <a:solidFill>
                  <a:srgbClr val="596579"/>
                </a:solidFill>
                <a:latin typeface="Helvetica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047875"/>
            <a:ext cx="6477000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400" b="1">
                <a:solidFill>
                  <a:srgbClr val="2D5FBE"/>
                </a:solidFill>
                <a:latin typeface="Helvetica"/>
              </a:defRPr>
            </a:pPr>
            <a:r>
              <a:t>Diseñada para cautivar en cualquier pantalla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762250"/>
            <a:ext cx="47625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>
                <a:solidFill>
                  <a:srgbClr val="2D5FBE"/>
                </a:solidFill>
                <a:latin typeface="Helvetica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2762250"/>
            <a:ext cx="592455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14223C"/>
                </a:solidFill>
                <a:latin typeface="Helvetica"/>
              </a:defRPr>
            </a:pPr>
            <a:r>
              <a:t>85% de visitas desde el celular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3200400"/>
            <a:ext cx="5924550" cy="857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0">
                <a:solidFill>
                  <a:srgbClr val="596579"/>
                </a:solidFill>
                <a:latin typeface="Helvetica"/>
              </a:defRPr>
            </a:pPr>
            <a:r>
              <a:t>Carga ultrarrápida y navegación intuitiva pensada</a:t>
            </a:r>
            <a:br/>
            <a:r>
              <a:t>especialmente para el público de Instagram y TikTok.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143375"/>
            <a:ext cx="47625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>
                <a:solidFill>
                  <a:srgbClr val="2D5FBE"/>
                </a:solidFill>
                <a:latin typeface="Helvetica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50" y="4143375"/>
            <a:ext cx="592455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14223C"/>
                </a:solidFill>
                <a:latin typeface="Helvetica"/>
              </a:defRPr>
            </a:pPr>
            <a:r>
              <a:t>Identidad de marca cuidada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4581525"/>
            <a:ext cx="5924550" cy="857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0">
                <a:solidFill>
                  <a:srgbClr val="596579"/>
                </a:solidFill>
                <a:latin typeface="Helvetica"/>
              </a:defRPr>
            </a:pPr>
            <a:r>
              <a:t>Conservamos el azul, la tipografía expresiva y el estilo</a:t>
            </a:r>
            <a:br/>
            <a:r>
              <a:t>artesanal que hace única a la propuesta de TLOC.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429250"/>
            <a:ext cx="47625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>
                <a:solidFill>
                  <a:srgbClr val="2D5FBE"/>
                </a:solidFill>
                <a:latin typeface="Helvetica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050" y="5429250"/>
            <a:ext cx="592455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14223C"/>
                </a:solidFill>
                <a:latin typeface="Helvetica"/>
              </a:defRPr>
            </a:pPr>
            <a:r>
              <a:t>El enlace oficial para tu Bio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50" y="5867400"/>
            <a:ext cx="5924550" cy="857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0">
                <a:solidFill>
                  <a:srgbClr val="596579"/>
                </a:solidFill>
                <a:latin typeface="Helvetica"/>
              </a:defRPr>
            </a:pPr>
            <a:r>
              <a:t>Un solo link que centraliza catálogo, horarios, ubicación</a:t>
            </a:r>
            <a:br/>
            <a:r>
              <a:t>y botón directo a WhatsApp.</a:t>
            </a:r>
          </a:p>
        </p:txBody>
      </p:sp>
      <p:pic>
        <p:nvPicPr>
          <p:cNvPr id="15" name="Picture 14" descr="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000250"/>
            <a:ext cx="2286000" cy="3905250"/>
          </a:xfrm>
          <a:prstGeom prst="rect">
            <a:avLst/>
          </a:prstGeom>
        </p:spPr>
      </p:pic>
      <p:pic>
        <p:nvPicPr>
          <p:cNvPr id="16" name="Picture 15" descr="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750" y="3905250"/>
            <a:ext cx="1524000" cy="1524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01000" y="6000750"/>
            <a:ext cx="371475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0">
                <a:solidFill>
                  <a:srgbClr val="596579"/>
                </a:solidFill>
                <a:latin typeface="Helvetica"/>
              </a:defRPr>
            </a:pPr>
            <a:r>
              <a:t>Experiencia móvil optimizada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6191250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2D5FBE"/>
                </a:solidFill>
                <a:latin typeface="Helvetica"/>
              </a:defRPr>
            </a:pPr>
            <a:r>
              <a:t>TLOC / PROPUESTA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85825"/>
            <a:ext cx="10858500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600" b="1">
                <a:solidFill>
                  <a:srgbClr val="14223C"/>
                </a:solidFill>
                <a:latin typeface="Helvetica"/>
              </a:defRPr>
            </a:pPr>
            <a:r>
              <a:t>Cronograma: máximo 2 semanas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7100" y="6324600"/>
            <a:ext cx="47625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0">
                <a:solidFill>
                  <a:srgbClr val="596579"/>
                </a:solidFill>
                <a:latin typeface="Helvetica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095500"/>
            <a:ext cx="49530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300" b="1">
                <a:solidFill>
                  <a:srgbClr val="2D5FBE"/>
                </a:solidFill>
                <a:latin typeface="Helvetica"/>
              </a:defRPr>
            </a:pPr>
            <a:r>
              <a:t>SEMANA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552700"/>
            <a:ext cx="5048250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600" b="1">
                <a:solidFill>
                  <a:srgbClr val="14223C"/>
                </a:solidFill>
                <a:latin typeface="Helvetica"/>
              </a:defRPr>
            </a:pPr>
            <a:r>
              <a:t>Contenido y diseño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286125"/>
            <a:ext cx="5143500" cy="15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0">
                <a:solidFill>
                  <a:srgbClr val="596579"/>
                </a:solidFill>
                <a:latin typeface="Helvetica"/>
              </a:defRPr>
            </a:pPr>
            <a:r>
              <a:t>Recepción de carta de sabores, fotos y datos de atención.</a:t>
            </a:r>
            <a:br/>
            <a:r>
              <a:t>Definición del dominio propio (ej. tloc.pe).</a:t>
            </a:r>
            <a:br/>
            <a:r>
              <a:t>Diseño de la landing y primera revisión conjunta contigo.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250" y="2095500"/>
            <a:ext cx="49530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300" b="1">
                <a:solidFill>
                  <a:srgbClr val="2D5FBE"/>
                </a:solidFill>
                <a:latin typeface="Helvetica"/>
              </a:defRPr>
            </a:pPr>
            <a:r>
              <a:t>SEMANA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0" y="2552700"/>
            <a:ext cx="5048250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600" b="1">
                <a:solidFill>
                  <a:srgbClr val="14223C"/>
                </a:solidFill>
                <a:latin typeface="Helvetica"/>
              </a:defRPr>
            </a:pPr>
            <a:r>
              <a:t>Desarrollo y entrega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0" y="3286125"/>
            <a:ext cx="4953000" cy="15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0">
                <a:solidFill>
                  <a:srgbClr val="596579"/>
                </a:solidFill>
                <a:latin typeface="Helvetica"/>
              </a:defRPr>
            </a:pPr>
            <a:r>
              <a:t>Programación web y adaptación para celulares.</a:t>
            </a:r>
            <a:br/>
            <a:r>
              <a:t>Configuración de botones de pedido a WhatsApp.</a:t>
            </a:r>
            <a:br/>
            <a:r>
              <a:t>Pruebas finales y publicación oficial de la landing.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667375"/>
            <a:ext cx="1066800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>
                <a:solidFill>
                  <a:srgbClr val="14223C"/>
                </a:solidFill>
                <a:latin typeface="Helvetica"/>
              </a:defRPr>
            </a:pPr>
            <a:r>
              <a:t>14 días calendario para tener tu web lista para vender, sin quitarte tiempo.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FB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6191250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DAE6FF"/>
                </a:solidFill>
                <a:latin typeface="Helvetica"/>
              </a:defRPr>
            </a:pPr>
            <a:r>
              <a:t>TLOC / PROPUESTA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85825"/>
            <a:ext cx="10858500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Helvetica"/>
              </a:defRPr>
            </a:pPr>
            <a:r>
              <a:t>Inversión y soporte continuo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7100" y="6324600"/>
            <a:ext cx="47625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0">
                <a:solidFill>
                  <a:srgbClr val="DAE6FF"/>
                </a:solidFill>
                <a:latin typeface="Helvetica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000250"/>
            <a:ext cx="5143500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F6ACCA"/>
                </a:solidFill>
                <a:latin typeface="Helvetica"/>
              </a:defRPr>
            </a:pPr>
            <a:r>
              <a:t>LANDING PAGE COMPLETA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33625"/>
            <a:ext cx="51435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600" b="1">
                <a:solidFill>
                  <a:srgbClr val="FFFFFF"/>
                </a:solidFill>
                <a:latin typeface="Helvetica"/>
              </a:defRPr>
            </a:pPr>
            <a:r>
              <a:t>S/ 499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3619500"/>
            <a:ext cx="51435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Helvetica"/>
              </a:defRPr>
            </a:pPr>
            <a:r>
              <a:t>Precio final de desarrollo y publicación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4143375"/>
            <a:ext cx="51435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F6ACCA"/>
                </a:solidFill>
                <a:latin typeface="Helvetica"/>
              </a:defRPr>
            </a:pPr>
            <a:r>
              <a:t>★  Mayor visibilidad y prestigio en redes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4619625"/>
            <a:ext cx="5334000" cy="76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0">
                <a:solidFill>
                  <a:srgbClr val="EDF2FE"/>
                </a:solidFill>
                <a:latin typeface="Helvetica"/>
              </a:defRPr>
            </a:pPr>
            <a:r>
              <a:t>Catálogo visual interactivo y pedidos directos a WhatsApp.</a:t>
            </a:r>
            <a:br/>
            <a:r>
              <a:t>Dominio propio: USD 15 a 20 al año (ej. tloc.pe).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0" y="2000250"/>
            <a:ext cx="5143500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F6ACCA"/>
                </a:solidFill>
                <a:latin typeface="Helvetica"/>
              </a:defRPr>
            </a:pPr>
            <a:r>
              <a:t>MANTENIMIENTO &amp; SOPORTE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0" y="2333625"/>
            <a:ext cx="51435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800" b="1">
                <a:solidFill>
                  <a:srgbClr val="FFFFFF"/>
                </a:solidFill>
                <a:latin typeface="Helvetica"/>
              </a:defRPr>
            </a:pPr>
            <a:r>
              <a:t>S/ 19 al 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0" y="3619500"/>
            <a:ext cx="514350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Helvetica"/>
              </a:defRPr>
            </a:pPr>
            <a:r>
              <a:t>Para mantener tu web siempre al día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0" y="4143375"/>
            <a:ext cx="5143500" cy="1238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0">
                <a:solidFill>
                  <a:srgbClr val="EDF2FE"/>
                </a:solidFill>
                <a:latin typeface="Helvetica"/>
              </a:defRPr>
            </a:pPr>
            <a:r>
              <a:t>Actualización de carta de precios y nuevos sabores.</a:t>
            </a:r>
            <a:br/>
            <a:r>
              <a:t>Adaptación de promociones y cambios de horarios.</a:t>
            </a:r>
            <a:br/>
            <a:r>
              <a:t>Soporte técnico continuo, sin contratos atados.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5953125"/>
            <a:ext cx="108585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DAE6FF"/>
                </a:solidFill>
                <a:latin typeface="Helvetica"/>
              </a:defRPr>
            </a:pPr>
            <a:r>
              <a:t>Una inversión accesible para dar el siguiente salto comercial con TLOC.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FB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6191250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DAE6FF"/>
                </a:solidFill>
                <a:latin typeface="Helvetica"/>
              </a:defRPr>
            </a:pPr>
            <a:r>
              <a:t>TLOC / PROPUESTA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85825"/>
            <a:ext cx="10858500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Helvetica"/>
              </a:defRPr>
            </a:pPr>
            <a:r>
              <a:t>Lo que necesitamos para comenzar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7100" y="6324600"/>
            <a:ext cx="47625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0">
                <a:solidFill>
                  <a:srgbClr val="DAE6FF"/>
                </a:solidFill>
                <a:latin typeface="Helvetica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143125"/>
            <a:ext cx="47625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>
                <a:solidFill>
                  <a:srgbClr val="F6ACCA"/>
                </a:solidFill>
                <a:latin typeface="Helvetica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2050" y="2143125"/>
            <a:ext cx="992505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Helvetica"/>
              </a:defRPr>
            </a:pPr>
            <a:r>
              <a:t>Confirmación de la propuesta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2581275"/>
            <a:ext cx="9925050" cy="857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0">
                <a:solidFill>
                  <a:srgbClr val="EDF2FE"/>
                </a:solidFill>
                <a:latin typeface="Helvetica"/>
              </a:defRPr>
            </a:pPr>
            <a:r>
              <a:t>Visto bueno al alcance de la landing y condiciones de inicio.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476625"/>
            <a:ext cx="47625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>
                <a:solidFill>
                  <a:srgbClr val="F6ACCA"/>
                </a:solidFill>
                <a:latin typeface="Helvetica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2050" y="3476625"/>
            <a:ext cx="992505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Helvetica"/>
              </a:defRPr>
            </a:pPr>
            <a:r>
              <a:t>Material de TLOC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50" y="3914775"/>
            <a:ext cx="9925050" cy="857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0">
                <a:solidFill>
                  <a:srgbClr val="EDF2FE"/>
                </a:solidFill>
                <a:latin typeface="Helvetica"/>
              </a:defRPr>
            </a:pPr>
            <a:r>
              <a:t>Logo, fotos de galletas, carta de productos y datos de atención.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810125"/>
            <a:ext cx="47625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>
                <a:solidFill>
                  <a:srgbClr val="F6ACCA"/>
                </a:solidFill>
                <a:latin typeface="Helvetica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4810125"/>
            <a:ext cx="9925050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Helvetica"/>
              </a:defRPr>
            </a:pPr>
            <a:r>
              <a:t>Dominio y fecha de inicio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050" y="5248275"/>
            <a:ext cx="9925050" cy="857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0">
                <a:solidFill>
                  <a:srgbClr val="EDF2FE"/>
                </a:solidFill>
                <a:latin typeface="Helvetica"/>
              </a:defRPr>
            </a:pPr>
            <a:r>
              <a:t>Elección del nombre web deseado y fecha de arranque acordada.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096000"/>
            <a:ext cx="1066800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Helvetica"/>
              </a:defRPr>
            </a:pPr>
            <a:r>
              <a:t>Entrega en un máximo de 2 semanas desde el inicio acordado.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