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ec4a1aa6e34016" /><Relationship Type="http://schemas.openxmlformats.org/officeDocument/2006/relationships/extended-properties" Target="/docProps/app.xml" Id="R3477b0695ae04765" /><Relationship Type="http://schemas.openxmlformats.org/officeDocument/2006/relationships/officeDocument" Target="/ppt/presentation.xml" Id="R3e859db3c3f849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7db104f21f4d59"/>
  </p:sldMasterIdLst>
  <p:notesMasterIdLst>
    <p:notesMasterId xmlns:r="http://schemas.openxmlformats.org/officeDocument/2006/relationships" r:id="R0236335af6c74108"/>
  </p:notesMasterIdLst>
  <p:sldIdLst>
    <p:sldId xmlns:r="http://schemas.openxmlformats.org/officeDocument/2006/relationships" id="256" r:id="R520bde2cd6914c10"/>
    <p:sldId xmlns:r="http://schemas.openxmlformats.org/officeDocument/2006/relationships" id="257" r:id="Ra210db4f25fb4619"/>
    <p:sldId xmlns:r="http://schemas.openxmlformats.org/officeDocument/2006/relationships" id="258" r:id="Redb1c4db12ad4f1b"/>
    <p:sldId xmlns:r="http://schemas.openxmlformats.org/officeDocument/2006/relationships" id="259" r:id="Rd8040d96967b45bd"/>
    <p:sldId xmlns:r="http://schemas.openxmlformats.org/officeDocument/2006/relationships" id="260" r:id="R9fd44df738dd4e38"/>
    <p:sldId xmlns:r="http://schemas.openxmlformats.org/officeDocument/2006/relationships" id="261" r:id="Racb418b9dc3a4ed6"/>
    <p:sldId xmlns:r="http://schemas.openxmlformats.org/officeDocument/2006/relationships" id="262" r:id="Rebe6e42fd42247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1a823749d84000" /><Relationship Type="http://schemas.openxmlformats.org/officeDocument/2006/relationships/slideMaster" Target="/ppt/slideMasters/slideMaster1.xml" Id="R2c7db104f21f4d59" /><Relationship Type="http://schemas.openxmlformats.org/officeDocument/2006/relationships/notesMaster" Target="/ppt/notesMasters/notesMaster1.xml" Id="R0236335af6c74108" /><Relationship Type="http://schemas.openxmlformats.org/officeDocument/2006/relationships/presProps" Target="/ppt/presProps.xml" Id="R5cbfd9fc5fc2406c" /><Relationship Type="http://schemas.openxmlformats.org/officeDocument/2006/relationships/viewProps" Target="/ppt/viewProps.xml" Id="R43ccdcdaddfd43de" /><Relationship Type="http://schemas.openxmlformats.org/officeDocument/2006/relationships/tableStyles" Target="/ppt/tableStyles.xml" Id="R6614d48aa308410c" /><Relationship Type="http://schemas.openxmlformats.org/officeDocument/2006/relationships/slide" Target="/ppt/slides/slide1.xml" Id="R520bde2cd6914c10" /><Relationship Type="http://schemas.openxmlformats.org/officeDocument/2006/relationships/slide" Target="/ppt/slides/slide2.xml" Id="Ra210db4f25fb4619" /><Relationship Type="http://schemas.openxmlformats.org/officeDocument/2006/relationships/slide" Target="/ppt/slides/slide3.xml" Id="Redb1c4db12ad4f1b" /><Relationship Type="http://schemas.openxmlformats.org/officeDocument/2006/relationships/slide" Target="/ppt/slides/slide4.xml" Id="Rd8040d96967b45bd" /><Relationship Type="http://schemas.openxmlformats.org/officeDocument/2006/relationships/slide" Target="/ppt/slides/slide5.xml" Id="R9fd44df738dd4e38" /><Relationship Type="http://schemas.openxmlformats.org/officeDocument/2006/relationships/slide" Target="/ppt/slides/slide6.xml" Id="Racb418b9dc3a4ed6" /><Relationship Type="http://schemas.openxmlformats.org/officeDocument/2006/relationships/slide" Target="/ppt/slides/slide7.xml" Id="Rebe6e42fd42247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62027532fd47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e0028a55cf4a2d" /><Relationship Type="http://schemas.openxmlformats.org/officeDocument/2006/relationships/notesMaster" Target="/ppt/notesMasters/notesMaster1.xml" Id="Rb8fa882dac2740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09b2404eee4164" /><Relationship Type="http://schemas.openxmlformats.org/officeDocument/2006/relationships/notesMaster" Target="/ppt/notesMasters/notesMaster1.xml" Id="Rdcc2d49283ff47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ce14a1d91f4bdd" /><Relationship Type="http://schemas.openxmlformats.org/officeDocument/2006/relationships/notesMaster" Target="/ppt/notesMasters/notesMaster1.xml" Id="Rd4738dabfea544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da4f7d03134029" /><Relationship Type="http://schemas.openxmlformats.org/officeDocument/2006/relationships/notesMaster" Target="/ppt/notesMasters/notesMaster1.xml" Id="R5d32757ad35140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3adc7bf0e5465f" /><Relationship Type="http://schemas.openxmlformats.org/officeDocument/2006/relationships/notesMaster" Target="/ppt/notesMasters/notesMaster1.xml" Id="Rc196b1e3294141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c8f8783b72b4941" /><Relationship Type="http://schemas.openxmlformats.org/officeDocument/2006/relationships/notesMaster" Target="/ppt/notesMasters/notesMaster1.xml" Id="R06c53d14484f45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5deedbef904ce1" /><Relationship Type="http://schemas.openxmlformats.org/officeDocument/2006/relationships/notesMaster" Target="/ppt/notesMasters/notesMaster1.xml" Id="Rc205dffdcd9247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Portada de una propuesta de landing para TLOC. Imagen proveniente de los recursos de marca disponibles en public/tlock.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Propuesta comercial de TLOC. Septiembre de 2026. Confirmar contenidos, disponibilidad y condiciones antes de publicar.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Propuesta comercial de TLOC. Septiembre de 2026. Confirmar contenidos, disponibilidad y condiciones antes de publicar.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Propuesta comercial de TLOC. Septiembre de 2026. Confirmar contenidos, disponibilidad y condiciones antes de publicar.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Propuesta comercial de TLOC. Septiembre de 2026. Confirmar contenidos, disponibilidad y condiciones antes de publicar.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Propuesta comercial de TLOC. Septiembre de 2026. Confirmar contenidos, disponibilidad y condiciones antes de publicar.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Propuesta comercial de TLOC. Septiembre de 2026. Confirmar contenidos, disponibilidad y condiciones antes de publicar.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8dffb32d7440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660c5628c04364" /><Relationship Type="http://schemas.openxmlformats.org/officeDocument/2006/relationships/slideLayout" Target="/ppt/slideLayouts/slideLayout1.xml" Id="Ra84c7aa53b0847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4c7aa53b0847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c023fe0b654d8a" /><Relationship Type="http://schemas.openxmlformats.org/officeDocument/2006/relationships/image" Target="/ppt/media/image.png" Id="Rfa653ff5d8324b6f" /><Relationship Type="http://schemas.openxmlformats.org/officeDocument/2006/relationships/notesSlide" Target="/ppt/notesSlides/notesSlide1.xml" Id="R8c7e1a2c326440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f95875b054403" /><Relationship Type="http://schemas.openxmlformats.org/officeDocument/2006/relationships/notesSlide" Target="/ppt/notesSlides/notesSlide2.xml" Id="R418e66e33bf74c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1f6beba1b54a08" /><Relationship Type="http://schemas.openxmlformats.org/officeDocument/2006/relationships/image" Target="/ppt/media/image2.png" Id="R2b9c9039e0c64d2e" /><Relationship Type="http://schemas.openxmlformats.org/officeDocument/2006/relationships/image" Target="/ppt/media/image3.png" Id="Re1e2711f44bd48c4" /><Relationship Type="http://schemas.openxmlformats.org/officeDocument/2006/relationships/image" Target="/ppt/media/image4.png" Id="R39fd6bdbd529450c" /><Relationship Type="http://schemas.openxmlformats.org/officeDocument/2006/relationships/image" Target="/ppt/media/image5.png" Id="R72aa6036903a4c1d" /><Relationship Type="http://schemas.openxmlformats.org/officeDocument/2006/relationships/notesSlide" Target="/ppt/notesSlides/notesSlide3.xml" Id="R2c501b6693cc41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270e9c5594abc" /><Relationship Type="http://schemas.openxmlformats.org/officeDocument/2006/relationships/image" Target="/ppt/media/image6.png" Id="Rf749dd01512a4701" /><Relationship Type="http://schemas.openxmlformats.org/officeDocument/2006/relationships/notesSlide" Target="/ppt/notesSlides/notesSlide4.xml" Id="R8733abcd822f45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aec6b229e4faf" /><Relationship Type="http://schemas.openxmlformats.org/officeDocument/2006/relationships/image" Target="/ppt/media/image7.png" Id="R0ab2c1524a654966" /><Relationship Type="http://schemas.openxmlformats.org/officeDocument/2006/relationships/notesSlide" Target="/ppt/notesSlides/notesSlide5.xml" Id="Rd8d85e787a2743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1ae17ebdd441b" /><Relationship Type="http://schemas.openxmlformats.org/officeDocument/2006/relationships/image" Target="/ppt/media/image8.png" Id="R04d82af90fea411d" /><Relationship Type="http://schemas.openxmlformats.org/officeDocument/2006/relationships/notesSlide" Target="/ppt/notesSlides/notesSlide6.xml" Id="R29c0cc3e579747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9a34e62d504c44" /><Relationship Type="http://schemas.openxmlformats.org/officeDocument/2006/relationships/image" Target="/ppt/media/image9.png" Id="R79992866fc1d4ceb" /><Relationship Type="http://schemas.openxmlformats.org/officeDocument/2006/relationships/notesSlide" Target="/ppt/notesSlides/notesSlide7.xml" Id="R2752139641b849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DBEF2B03-6447-438D-9051-4E5D5DA1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DCE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CE8FF"/>
                </a:solidFill>
                <a:latin typeface="Helvetica Neue"/>
                <a:ea typeface="Helvetica Neue"/>
                <a:cs typeface="Helvetica Neue"/>
              </a:rPr>
              <a:t>TLOC / PROPUESTA WEB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D90487E8-3D42-4282-B8AD-FA415B97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CE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DCE8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pic>
        <p:nvPicPr>
          <p:cNvPr id="14" name="Imagen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653ff5d8324b6f"/>
          <a:srcRect xmlns:a="http://schemas.openxmlformats.org/drawingml/2006/main" l="21771" t="0" r="217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29450" y="0"/>
            <a:ext cx="516255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E3194BC4-5B90-4D9F-AAD0-24DB6D91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600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6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</a:t>
            </a:r>
            <a:r>
              <a:rPr sz="6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</a:t>
            </a:r>
            <a:r>
              <a:rPr sz="6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oc</a:t>
            </a:r>
            <a:endParaRPr sz="6900" b="1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A88F107C-7EE9-44A3-927A-9A830807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619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Propuesta de landing page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1C7DFC2E-06AB-455F-86F4-6ABBE19B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443412"/>
            <a:ext cx="590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Una </a:t>
            </a:r>
            <a:r>
              <a:rPr sz="202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solución</a:t>
            </a:r>
            <a:r>
              <a:rPr sz="202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 para </a:t>
            </a:r>
            <a:r>
              <a:rPr sz="202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ganar</a:t>
            </a:r>
            <a:r>
              <a:rPr sz="202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02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visibilidad</a:t>
            </a:r>
            <a:r>
              <a:rPr sz="202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,</a:t>
            </a:r>
          </a:p>
          <a:p xmlns:a="http://schemas.openxmlformats.org/drawingml/2006/main">
            <a:pPr>
              <a:buNone/>
              <a:defRPr sz="202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ordenar</a:t>
            </a:r>
            <a:r>
              <a:rPr sz="202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 la </a:t>
            </a:r>
            <a:r>
              <a:rPr sz="202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marca</a:t>
            </a:r>
            <a:r>
              <a:rPr sz="202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 y </a:t>
            </a:r>
            <a:r>
              <a:rPr sz="202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facilitar</a:t>
            </a:r>
            <a:r>
              <a:rPr sz="202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02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el</a:t>
            </a:r>
            <a:r>
              <a:rPr sz="202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02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contacto</a:t>
            </a:r>
            <a:r>
              <a:rPr sz="202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92B41847-C735-40DC-BE9F-F450FFE7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DCE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DCE8FF"/>
                </a:solidFill>
                <a:latin typeface="Helvetica Neue"/>
                <a:ea typeface="Helvetica Neue"/>
                <a:cs typeface="Helvetica Neue"/>
              </a:rPr>
              <a:t>Septiembre de 2026</a:t>
            </a:r>
          </a:p>
        </p:txBody>
      </p:sp>
      <p:sp>
        <p:nvSpPr>
          <p:cNvPr id="10" name="Decoración azul superior 1">
            <a:extLst xmlns:a="http://schemas.openxmlformats.org/drawingml/2006/main">
              <a:ext uri="{FF2B5EF4-FFF2-40B4-BE49-F238E27FC236}">
                <a16:creationId xmlns:a16="http://schemas.microsoft.com/office/drawing/2014/main" id="{060BAD82-B499-47D2-A961-9B6E51E4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66687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11" name="Decoración azul inferior 1">
            <a:extLst xmlns:a="http://schemas.openxmlformats.org/drawingml/2006/main">
              <a:ext uri="{FF2B5EF4-FFF2-40B4-BE49-F238E27FC236}">
                <a16:creationId xmlns:a16="http://schemas.microsoft.com/office/drawing/2014/main" id="{DA73017E-C1A0-4C98-B67A-AF53DCE6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5905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8F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0161416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F0D77B34-378C-4E2F-A142-35E7FA63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TLOC / PROPUESTA WEB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8DDD965-CB76-475B-807F-CC7F9D14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Una </a:t>
            </a:r>
            <a:r>
              <a: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presencia</a:t>
            </a:r>
            <a:r>
              <a: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 que </a:t>
            </a:r>
            <a:r>
              <a: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trabaje</a:t>
            </a:r>
            <a:r>
              <a: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por</a:t>
            </a:r>
            <a:r>
              <a: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3375" b="1">
                <a:solidFill>
                  <a:srgbClr val="0070C0"/>
                </a:solidFill>
                <a:latin typeface="Helvetica Neue"/>
                <a:ea typeface="Helvetica Neue"/>
                <a:cs typeface="Helvetica Neue"/>
              </a:rPr>
              <a:t>TLOC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9046D06C-8D9D-451B-A899-E85A69D9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8ED92FB8-E2E8-477B-A264-2A1BF0C2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LA OPORTUNIDAD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158B809E-FB7E-4D0A-BC51-80B2F922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90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TLOC </a:t>
            </a:r>
            <a:r>
              <a:rPr sz="30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ya</a:t>
            </a:r>
            <a:r>
              <a:rPr sz="30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30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tiene</a:t>
            </a:r>
            <a:r>
              <a:rPr sz="30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 un </a:t>
            </a:r>
            <a:r>
              <a:rPr sz="30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producto</a:t>
            </a:r>
            <a:endParaRPr sz="3000" b="1">
              <a:solidFill>
                <a:srgbClr val="14223C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>
              <a:buNone/>
              <a:defRPr sz="30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que </a:t>
            </a:r>
            <a:r>
              <a:rPr sz="30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merece</a:t>
            </a:r>
            <a:r>
              <a:rPr sz="30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 verse </a:t>
            </a:r>
            <a:r>
              <a:rPr sz="30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mejor</a:t>
            </a:r>
            <a:r>
              <a:rPr sz="30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A4F9E442-66B4-4991-A8DF-2A7FA4FC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619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Una landing </a:t>
            </a: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clara</a:t>
            </a: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convierte</a:t>
            </a: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 la </a:t>
            </a: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atención</a:t>
            </a: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 de redes</a:t>
            </a:r>
          </a:p>
          <a:p xmlns:a="http://schemas.openxmlformats.org/drawingml/2006/main">
            <a:pPr>
              <a:buNone/>
              <a:def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en</a:t>
            </a: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una</a:t>
            </a: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marca</a:t>
            </a: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más</a:t>
            </a: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 visible, </a:t>
            </a: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confiable</a:t>
            </a: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 y </a:t>
            </a: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fácil</a:t>
            </a: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 de </a:t>
            </a: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contactar</a:t>
            </a: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2BF9A9F4-6A88-419A-9087-933B6FBE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90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La </a:t>
            </a:r>
            <a:r>
              <a:rPr sz="21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competencia</a:t>
            </a:r>
            <a:r>
              <a:rPr sz="21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1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ya</a:t>
            </a:r>
            <a:r>
              <a:rPr sz="21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1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comunica</a:t>
            </a:r>
            <a:r>
              <a:rPr sz="21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1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en</a:t>
            </a:r>
            <a:r>
              <a:rPr sz="21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 digital.</a:t>
            </a:r>
          </a:p>
          <a:p xmlns:a="http://schemas.openxmlformats.org/drawingml/2006/main">
            <a:pPr>
              <a:buNone/>
              <a:defRPr sz="21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TLOC </a:t>
            </a:r>
            <a:r>
              <a:rPr sz="21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puede</a:t>
            </a:r>
            <a:r>
              <a:rPr sz="21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1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dar</a:t>
            </a:r>
            <a:r>
              <a:rPr sz="21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1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el</a:t>
            </a:r>
            <a:r>
              <a:rPr sz="21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1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siguiente</a:t>
            </a:r>
            <a:r>
              <a:rPr sz="21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 paso.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184D6B01-95B3-4A8E-B637-AC103B86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867400"/>
            <a:ext cx="352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Producto + marca + contacto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F7C0454-E0E9-2C26-5A5E-68400628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1813"/>
            <a:ext cx="452907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Decoración azul superior 2">
            <a:extLst xmlns:a="http://schemas.openxmlformats.org/drawingml/2006/main">
              <a:ext uri="{FF2B5EF4-FFF2-40B4-BE49-F238E27FC236}">
                <a16:creationId xmlns:a16="http://schemas.microsoft.com/office/drawing/2014/main" id="{87889D74-68FF-4371-9E05-5A6A3ADE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66687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12" name="Decoración azul inferior 2">
            <a:extLst xmlns:a="http://schemas.openxmlformats.org/drawingml/2006/main">
              <a:ext uri="{FF2B5EF4-FFF2-40B4-BE49-F238E27FC236}">
                <a16:creationId xmlns:a16="http://schemas.microsoft.com/office/drawing/2014/main" id="{43A11E47-414F-481B-972F-41481665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5905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8F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174943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2B21F13F-8F5B-407F-92E1-5D2C99CF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TLOC / PROPUESTA WEB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3BA65C31-1B7C-47C4-959D-154772E8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La </a:t>
            </a:r>
            <a:r>
              <a: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propuesta</a:t>
            </a:r>
            <a:r>
              <a: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 se </a:t>
            </a:r>
            <a:r>
              <a: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ve</a:t>
            </a:r>
            <a:r>
              <a: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 bien </a:t>
            </a:r>
            <a:r>
              <a: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en</a:t>
            </a:r>
            <a:r>
              <a: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cualquier</a:t>
            </a:r>
            <a:r>
              <a: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pantalla</a:t>
            </a:r>
            <a:endParaRPr sz="3375" b="1">
              <a:solidFill>
                <a:srgbClr val="14223C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D6DCC552-D168-4A1D-A2DE-90BC11D6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D3402D14-B171-478C-9772-C57AE3F6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EXPERIENCIA WEB Y MÓVIL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E57ACE62-9BE4-4766-9B3E-8E3792BC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3714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Una </a:t>
            </a:r>
            <a:r>
              <a:rPr sz="292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misma</a:t>
            </a:r>
            <a:r>
              <a:rPr sz="292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92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marca</a:t>
            </a:r>
            <a:r>
              <a:rPr sz="292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  <a:p xmlns:a="http://schemas.openxmlformats.org/drawingml/2006/main">
            <a:pPr>
              <a:buNone/>
              <a:defRPr sz="292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Dos </a:t>
            </a:r>
            <a:r>
              <a:rPr sz="292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formas</a:t>
            </a:r>
            <a:r>
              <a:rPr sz="292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 de </a:t>
            </a:r>
            <a:r>
              <a:rPr sz="292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verla</a:t>
            </a:r>
            <a:r>
              <a:rPr sz="292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1DFC189B-BAD6-4E4E-9DE1-2DBA6EC6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4238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Presentamos</a:t>
            </a:r>
            <a:r>
              <a:rPr sz="17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 la landing </a:t>
            </a:r>
            <a:r>
              <a:rPr sz="17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en</a:t>
            </a:r>
            <a:r>
              <a:rPr sz="17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7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escritorio</a:t>
            </a:r>
            <a:r>
              <a:rPr sz="17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 y </a:t>
            </a:r>
            <a:r>
              <a:rPr sz="17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celular</a:t>
            </a:r>
            <a:endParaRPr sz="1725" b="0">
              <a:solidFill>
                <a:srgbClr val="596579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>
              <a:buNone/>
              <a:defRPr sz="17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para que TLOC se </a:t>
            </a:r>
            <a:r>
              <a:rPr sz="17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vea</a:t>
            </a:r>
            <a:r>
              <a:rPr sz="17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7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profesional</a:t>
            </a:r>
            <a:r>
              <a:rPr sz="17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7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donde</a:t>
            </a:r>
            <a:r>
              <a:rPr sz="17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7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descubren</a:t>
            </a:r>
            <a:r>
              <a:rPr sz="17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 la </a:t>
            </a:r>
            <a:r>
              <a:rPr sz="17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marca</a:t>
            </a:r>
            <a:r>
              <a:rPr sz="17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sp>
        <p:nvSpPr>
          <p:cNvPr id="7" name="Rectángulo redondeado 6">
            <a:extLst xmlns:a="http://schemas.openxmlformats.org/drawingml/2006/main">
              <a:ext uri="{FF2B5EF4-FFF2-40B4-BE49-F238E27FC236}">
                <a16:creationId xmlns:a16="http://schemas.microsoft.com/office/drawing/2014/main" id="{B2120773-8BE6-4FF9-911C-5BE8A24A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809750"/>
            <a:ext cx="4762500" cy="2828925"/>
          </a:xfrm>
          <a:prstGeom xmlns:a="http://schemas.openxmlformats.org/drawingml/2006/main" prst="roundRect">
            <a:avLst>
              <a:gd name="adj" fmla="val 5387"/>
            </a:avLst>
          </a:prstGeom>
          <a:solidFill xmlns:a="http://schemas.openxmlformats.org/drawingml/2006/main">
            <a:srgbClr val="DCE6F7"/>
          </a:solidFill>
          <a:ln xmlns:a="http://schemas.openxmlformats.org/drawingml/2006/main" w="0">
            <a:solidFill>
              <a:srgbClr val="DCE6F7"/>
            </a:solidFill>
          </a:ln>
        </p:spPr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EEBDE959-22E6-4A07-9DA4-D3852B5B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410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VERSIÓN WEB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C6D72A54-0A56-4226-A469-6E6D8448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6863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MÓVIL</a:t>
            </a:r>
          </a:p>
        </p:txBody>
      </p:sp>
      <p:sp>
        <p:nvSpPr>
          <p:cNvPr id="13" name="Rectángulo redondeado 12">
            <a:extLst xmlns:a="http://schemas.openxmlformats.org/drawingml/2006/main">
              <a:ext uri="{FF2B5EF4-FFF2-40B4-BE49-F238E27FC236}">
                <a16:creationId xmlns:a16="http://schemas.microsoft.com/office/drawing/2014/main" id="{D07FB29E-1004-4837-9ECA-95FACCF9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1049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EFFB"/>
          </a:solidFill>
          <a:ln xmlns:a="http://schemas.openxmlformats.org/drawingml/2006/main" w="0">
            <a:solidFill>
              <a:srgbClr val="E9EFF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714FB95E-3674-4771-BB2A-28F48457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292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Aquí</a:t>
            </a:r>
            <a:r>
              <a:rPr sz="12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2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dejaré</a:t>
            </a:r>
            <a:r>
              <a:rPr sz="12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2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el</a:t>
            </a:r>
            <a:r>
              <a:rPr sz="12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 enlace del </a:t>
            </a:r>
            <a:r>
              <a:rPr sz="12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prototipo</a:t>
            </a:r>
            <a:r>
              <a:rPr sz="12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 para que lo revises con TLOC: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896CD0F-A1E4-418B-853D-25D9D36E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619750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https://sideweb-mu.vercel.app/tloc</a:t>
            </a:r>
          </a:p>
        </p:txBody>
      </p:sp>
      <p:pic>
        <p:nvPicPr>
          <p:cNvPr id="61" name="Imagen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9c9039e0c64d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0205" y="1914525"/>
            <a:ext cx="4532106" cy="2390775"/>
          </a:xfrm>
          <a:prstGeom xmlns:a="http://schemas.openxmlformats.org/drawingml/2006/main" prst="rect">
            <a:avLst/>
          </a:prstGeom>
        </p:spPr>
      </p:pic>
      <p:pic>
        <p:nvPicPr>
          <p:cNvPr id="62" name="Imagen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e2711f44bd48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0000" y="1800225"/>
            <a:ext cx="1422400" cy="2819400"/>
          </a:xfrm>
          <a:prstGeom xmlns:a="http://schemas.openxmlformats.org/drawingml/2006/main" prst="rect">
            <a:avLst/>
          </a:prstGeom>
        </p:spPr>
      </p:pic>
      <p:sp>
        <p:nvSpPr>
          <p:cNvPr id="19" name="Decoración azul superior 3">
            <a:extLst xmlns:a="http://schemas.openxmlformats.org/drawingml/2006/main">
              <a:ext uri="{FF2B5EF4-FFF2-40B4-BE49-F238E27FC236}">
                <a16:creationId xmlns:a16="http://schemas.microsoft.com/office/drawing/2014/main" id="{D7A2D33A-EE81-4A1A-A501-9EBF60CE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66687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20" name="Decoración azul inferior 3">
            <a:extLst xmlns:a="http://schemas.openxmlformats.org/drawingml/2006/main">
              <a:ext uri="{FF2B5EF4-FFF2-40B4-BE49-F238E27FC236}">
                <a16:creationId xmlns:a16="http://schemas.microsoft.com/office/drawing/2014/main" id="{6C3FCAF9-591D-4B55-864C-C0DBA387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5905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8FF"/>
          </a:solidFill>
          <a:ln xmlns:a="http://schemas.openxmlformats.org/drawingml/2006/main" w="0">
            <a:noFill/>
          </a:ln>
        </p:spPr>
      </p:sp>
      <p:sp>
        <p:nvSpPr>
          <p:cNvPr id="21" name="Fondo editable de reconstrucción">
            <a:extLst xmlns:a="http://schemas.openxmlformats.org/drawingml/2006/main">
              <a:ext uri="{FF2B5EF4-FFF2-40B4-BE49-F238E27FC236}">
                <a16:creationId xmlns:a16="http://schemas.microsoft.com/office/drawing/2014/main" id="{912AD1E1-1DB5-4D5D-B09B-72913056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FC230B-9A8B-4E5D-B7DE-760F2F4B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2D67D2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2D67D2"/>
                </a:solidFill>
                <a:latin typeface="Manrope"/>
                <a:ea typeface="Manrope"/>
                <a:cs typeface="Manrope"/>
              </a:rPr>
              <a:t>TLOC / PROPUESTA WEB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E1FACD-DD03-409B-9B21-35071EAB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3213D"/>
                </a:solidFill>
                <a:latin typeface="Manrope"/>
                <a:ea typeface="Manrope"/>
                <a:cs typeface="Manrope"/>
              </a:defRPr>
            </a:pPr>
            <a:r>
              <a:rPr sz="3150" b="1" i="0">
                <a:solidFill>
                  <a:srgbClr val="13213D"/>
                </a:solidFill>
                <a:latin typeface="Manrope"/>
                <a:ea typeface="Manrope"/>
                <a:cs typeface="Manrope"/>
              </a:rPr>
              <a:t>Una presencia que trabaja por TLOC</a:t>
            </a:r>
          </a:p>
        </p:txBody>
      </p:sp>
      <p:sp>
        <p:nvSpPr>
          <p:cNvPr id="24" name="Acento azul">
            <a:extLst xmlns:a="http://schemas.openxmlformats.org/drawingml/2006/main">
              <a:ext uri="{FF2B5EF4-FFF2-40B4-BE49-F238E27FC236}">
                <a16:creationId xmlns:a16="http://schemas.microsoft.com/office/drawing/2014/main" id="{0B1E4118-9AA1-4A36-8A8D-1382A137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D67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0AC34E-DBE9-41E3-988A-A13EA9EB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2D67D2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2D67D2"/>
                </a:solidFill>
                <a:latin typeface="Manrope"/>
                <a:ea typeface="Manrope"/>
                <a:cs typeface="Manrope"/>
              </a:rPr>
              <a:t>LA EXPERIENCIA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B61E92-6A20-48BF-97AF-F5CC2763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3213D"/>
                </a:solidFill>
                <a:latin typeface="Manrope"/>
                <a:ea typeface="Manrope"/>
                <a:cs typeface="Manrope"/>
              </a:defRPr>
            </a:pPr>
            <a:r>
              <a:rPr sz="1875" b="1" i="0">
                <a:solidFill>
                  <a:srgbClr val="13213D"/>
                </a:solidFill>
                <a:latin typeface="Manrope"/>
                <a:ea typeface="Manrope"/>
                <a:cs typeface="Manrope"/>
              </a:rPr>
              <a:t>Una landing clara, profesional y responsive para que TLOC se vea bien en cualquier pantalla.</a:t>
            </a:r>
          </a:p>
        </p:txBody>
      </p:sp>
      <p:sp>
        <p:nvSpPr>
          <p:cNvPr id="27" name="Beneficio 01">
            <a:extLst xmlns:a="http://schemas.openxmlformats.org/drawingml/2006/main">
              <a:ext uri="{FF2B5EF4-FFF2-40B4-BE49-F238E27FC236}">
                <a16:creationId xmlns:a16="http://schemas.microsoft.com/office/drawing/2014/main" id="{54CE732F-B213-4239-8FAB-C97FFB0F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7E5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37D27F-71EE-49DA-86BE-7CA87684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433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2D67D2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2D67D2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383376-E610-4BC0-AAAD-BFE0E452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576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2D67D2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2D67D2"/>
                </a:solidFill>
                <a:latin typeface="Manrope"/>
                <a:ea typeface="Manrope"/>
                <a:cs typeface="Manrope"/>
              </a:rPr>
              <a:t>VISIBILIDAD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8A20D1-2134-4A51-A766-859C666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052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5D6B83"/>
                </a:solidFill>
                <a:latin typeface="Manrope"/>
                <a:ea typeface="Manrope"/>
                <a:cs typeface="Manrope"/>
              </a:defRPr>
            </a:pPr>
            <a:r>
              <a:rPr sz="975" b="0" i="0">
                <a:solidFill>
                  <a:srgbClr val="5D6B83"/>
                </a:solidFill>
                <a:latin typeface="Manrope"/>
                <a:ea typeface="Manrope"/>
                <a:cs typeface="Manrope"/>
              </a:rPr>
              <a:t>TLOC presente 24/7</a:t>
            </a:r>
          </a:p>
        </p:txBody>
      </p:sp>
      <p:sp>
        <p:nvSpPr>
          <p:cNvPr id="31" name="Beneficio 02">
            <a:extLst xmlns:a="http://schemas.openxmlformats.org/drawingml/2006/main">
              <a:ext uri="{FF2B5EF4-FFF2-40B4-BE49-F238E27FC236}">
                <a16:creationId xmlns:a16="http://schemas.microsoft.com/office/drawing/2014/main" id="{2064A0D9-8BBF-4386-8376-48ABA320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7E5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FEEE91-AED3-453F-A791-D1ADF644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672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2D67D2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2D67D2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328715-D908-4CD5-BF4F-EB2A6F5C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815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2D67D2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2D67D2"/>
                </a:solidFill>
                <a:latin typeface="Manrope"/>
                <a:ea typeface="Manrope"/>
                <a:cs typeface="Manrope"/>
              </a:rPr>
              <a:t>CONFIANZA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DC6673-C453-406F-B595-C7037A71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291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5D6B83"/>
                </a:solidFill>
                <a:latin typeface="Manrope"/>
                <a:ea typeface="Manrope"/>
                <a:cs typeface="Manrope"/>
              </a:defRPr>
            </a:pPr>
            <a:r>
              <a:rPr sz="975" b="0" i="0">
                <a:solidFill>
                  <a:srgbClr val="5D6B83"/>
                </a:solidFill>
                <a:latin typeface="Manrope"/>
                <a:ea typeface="Manrope"/>
                <a:cs typeface="Manrope"/>
              </a:rPr>
              <a:t>Imagen profesional</a:t>
            </a:r>
          </a:p>
        </p:txBody>
      </p:sp>
      <p:sp>
        <p:nvSpPr>
          <p:cNvPr id="35" name="Beneficio 03">
            <a:extLst xmlns:a="http://schemas.openxmlformats.org/drawingml/2006/main">
              <a:ext uri="{FF2B5EF4-FFF2-40B4-BE49-F238E27FC236}">
                <a16:creationId xmlns:a16="http://schemas.microsoft.com/office/drawing/2014/main" id="{E4746D14-D7B7-4DE4-A99B-BEA44673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7E5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236579-345D-4FAA-B79E-A4F0EE06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91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2D67D2"/>
                </a:solidFill>
                <a:latin typeface="Manrope"/>
                <a:ea typeface="Manrope"/>
                <a:cs typeface="Manrope"/>
              </a:defRPr>
            </a:pPr>
            <a:r>
              <a:rPr sz="900" b="1" i="0">
                <a:solidFill>
                  <a:srgbClr val="2D67D2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F4013B-445F-4F53-9488-C534796E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54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2D67D2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2D67D2"/>
                </a:solidFill>
                <a:latin typeface="Manrope"/>
                <a:ea typeface="Manrope"/>
                <a:cs typeface="Manrope"/>
              </a:rPr>
              <a:t>CONVERSIÓN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6FD6B7-FF60-48B1-8558-3588780F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530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5D6B83"/>
                </a:solidFill>
                <a:latin typeface="Manrope"/>
                <a:ea typeface="Manrope"/>
                <a:cs typeface="Manrope"/>
              </a:defRPr>
            </a:pPr>
            <a:r>
              <a:rPr sz="975" b="0" i="0">
                <a:solidFill>
                  <a:srgbClr val="5D6B83"/>
                </a:solidFill>
                <a:latin typeface="Manrope"/>
                <a:ea typeface="Manrope"/>
                <a:cs typeface="Manrope"/>
              </a:rPr>
              <a:t>Contacto directo con tus clientes</a:t>
            </a:r>
          </a:p>
        </p:txBody>
      </p:sp>
      <p:sp>
        <p:nvSpPr>
          <p:cNvPr id="39" name="Marco editable versión web">
            <a:extLst xmlns:a="http://schemas.openxmlformats.org/drawingml/2006/main">
              <a:ext uri="{FF2B5EF4-FFF2-40B4-BE49-F238E27FC236}">
                <a16:creationId xmlns:a16="http://schemas.microsoft.com/office/drawing/2014/main" id="{FCFDBF72-4F30-4DB2-84AE-B9E959D2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5095875" cy="295275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5E4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fd6bdbd529450c"/>
          <a:stretch xmlns:a="http://schemas.openxmlformats.org/drawingml/2006/main"/>
        </p:blipFill>
        <p:spPr>
          <a:xfrm xmlns:a="http://schemas.openxmlformats.org/drawingml/2006/main">
            <a:off x="5372100" y="1945708"/>
            <a:ext cx="4829175" cy="2547485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BAE988-170C-4B04-9004-E498BE0D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5243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D67D2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2D67D2"/>
                </a:solidFill>
                <a:latin typeface="Manrope"/>
                <a:ea typeface="Manrope"/>
                <a:cs typeface="Manrope"/>
              </a:rPr>
              <a:t>VERSIÓN WEB</a:t>
            </a:r>
          </a:p>
        </p:txBody>
      </p:sp>
      <p:sp>
        <p:nvSpPr>
          <p:cNvPr id="42" name="Marco editable versión móvil">
            <a:extLst xmlns:a="http://schemas.openxmlformats.org/drawingml/2006/main">
              <a:ext uri="{FF2B5EF4-FFF2-40B4-BE49-F238E27FC236}">
                <a16:creationId xmlns:a16="http://schemas.microsoft.com/office/drawing/2014/main" id="{B06D5FA6-2FED-43E4-BD5A-431258A3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47875"/>
            <a:ext cx="1428750" cy="30480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5E4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aa6036903a4c1d"/>
          <a:stretch xmlns:a="http://schemas.openxmlformats.org/drawingml/2006/main"/>
        </p:blipFill>
        <p:spPr>
          <a:xfrm xmlns:a="http://schemas.openxmlformats.org/drawingml/2006/main">
            <a:off x="10458450" y="2287871"/>
            <a:ext cx="1276350" cy="2529908"/>
          </a:xfrm>
          <a:prstGeom xmlns:a="http://schemas.openxmlformats.org/drawingml/2006/main" prst="rect">
            <a:avLst/>
          </a:prstGeom>
        </p:spPr>
      </p:pic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5E462D-2FD8-40FF-AE9E-AA38AF53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143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D67D2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2D67D2"/>
                </a:solidFill>
                <a:latin typeface="Manrope"/>
                <a:ea typeface="Manrope"/>
                <a:cs typeface="Manrope"/>
              </a:rPr>
              <a:t>MÓVIL</a:t>
            </a:r>
          </a:p>
        </p:txBody>
      </p:sp>
      <p:sp>
        <p:nvSpPr>
          <p:cNvPr id="45" name="Enlace editable del prototipo">
            <a:extLst xmlns:a="http://schemas.openxmlformats.org/drawingml/2006/main">
              <a:ext uri="{FF2B5EF4-FFF2-40B4-BE49-F238E27FC236}">
                <a16:creationId xmlns:a16="http://schemas.microsoft.com/office/drawing/2014/main" id="{51A0EF45-D552-4A50-BF3C-89113697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287000" cy="5143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E5980B6-41A4-4B28-A19E-A225B74B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53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3213D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13213D"/>
                </a:solidFill>
                <a:latin typeface="Manrope"/>
                <a:ea typeface="Manrope"/>
                <a:cs typeface="Manrope"/>
              </a:rPr>
              <a:t>Prototipo disponible para revisión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2BFD2E4-2EC2-4371-9FA3-722A760D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9436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D67D2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2D67D2"/>
                </a:solidFill>
                <a:latin typeface="Manrope"/>
                <a:ea typeface="Manrope"/>
                <a:cs typeface="Manrope"/>
              </a:rPr>
              <a:t>https://sideweb-mu.vercel.app/tloc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6D85434-7F5A-4469-96B6-E29648F3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D6B83"/>
                </a:solidFill>
                <a:latin typeface="Manrope"/>
                <a:ea typeface="Manrope"/>
                <a:cs typeface="Manrope"/>
              </a:defRPr>
            </a:pPr>
            <a:r>
              <a:rPr sz="1125" b="0" i="0">
                <a:solidFill>
                  <a:srgbClr val="5D6B83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562527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8588FAF5-B273-4B14-9CEF-188A6AE7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TLOC / PROPUESTA WEB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C438493-104A-4763-B522-A5511DDB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Qué recibe TLOC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9FE09A5B-CA29-4D43-8021-90A4C3C4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2295DB1D-2F4E-48EC-A7F1-D48600C8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UNA LANDING COMPLETA</a:t>
            </a:r>
          </a:p>
        </p:txBody>
      </p:sp>
      <p:pic>
        <p:nvPicPr>
          <p:cNvPr id="21" name="Imagen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49dd01512a4701"/>
          <a:srcRect xmlns:a="http://schemas.openxmlformats.org/drawingml/2006/main" l="0" t="13886" r="0" b="138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133600"/>
            <a:ext cx="3952875" cy="3571875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5EE62E78-734D-4443-B92D-06A79A92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90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E5FF5086-DCF8-417A-A105-A88AF4B2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1717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Portada que presenta la marca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714BB91D-0399-49EE-8FD3-FC52118F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337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B056761D-23BD-4F81-81C6-63A0614E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1467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Sabores, boxes y promociones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3AEE26DF-5BED-4A8A-AB36-E6D0DFCE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76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17D108EF-EF2B-49AE-96F3-B804C42D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576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WhatsApp, redes, ubicación y horarios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B1108D8C-BAA4-4BA5-8049-2B01559F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038725"/>
            <a:ext cx="5953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Diseño adaptable a laptop y celular, con contenido que TLOC podrá actualizar mediante soporte.</a:t>
            </a:r>
          </a:p>
        </p:txBody>
      </p:sp>
      <p:sp>
        <p:nvSpPr>
          <p:cNvPr id="15" name="Decoración azul superior 4">
            <a:extLst xmlns:a="http://schemas.openxmlformats.org/drawingml/2006/main">
              <a:ext uri="{FF2B5EF4-FFF2-40B4-BE49-F238E27FC236}">
                <a16:creationId xmlns:a16="http://schemas.microsoft.com/office/drawing/2014/main" id="{FC2907D9-0537-4BCB-9A2B-B09E48CB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66687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16" name="Decoración azul inferior 4">
            <a:extLst xmlns:a="http://schemas.openxmlformats.org/drawingml/2006/main">
              <a:ext uri="{FF2B5EF4-FFF2-40B4-BE49-F238E27FC236}">
                <a16:creationId xmlns:a16="http://schemas.microsoft.com/office/drawing/2014/main" id="{4752B1C6-BE7B-4A97-855C-449CA017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5905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8F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150767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4A35C364-1D5D-468D-A1B3-EFA01F1C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TLOC / PROPUESTA WEB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C773001D-1E6D-4F78-B5E7-1948F5AE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Tiempo e inversión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7171DE13-5ABF-4EAA-9442-D3D526FE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55A8264E-A524-4691-A70E-C449F44F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MÁXIMO 2 SEMANAS</a:t>
            </a:r>
          </a:p>
        </p:txBody>
      </p:sp>
      <p:sp>
        <p:nvSpPr>
          <p:cNvPr id="5" name="Rectángulo redondeado 4">
            <a:extLst xmlns:a="http://schemas.openxmlformats.org/drawingml/2006/main">
              <a:ext uri="{FF2B5EF4-FFF2-40B4-BE49-F238E27FC236}">
                <a16:creationId xmlns:a16="http://schemas.microsoft.com/office/drawing/2014/main" id="{93933523-0B38-4B7E-B0B3-18C8DB7B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5238750" cy="2876550"/>
          </a:xfrm>
          <a:prstGeom xmlns:a="http://schemas.openxmlformats.org/drawingml/2006/main" prst="roundRect">
            <a:avLst>
              <a:gd name="adj" fmla="val 5960"/>
            </a:avLst>
          </a:prstGeom>
          <a:solidFill xmlns:a="http://schemas.openxmlformats.org/drawingml/2006/main">
            <a:srgbClr val="E9EFFB"/>
          </a:solidFill>
          <a:ln xmlns:a="http://schemas.openxmlformats.org/drawingml/2006/main" w="0">
            <a:solidFill>
              <a:srgbClr val="E9EFFB"/>
            </a:solidFill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1025EF82-E96E-47D8-AB23-D1D19E46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SEMANA 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A666F4DD-3BAB-4B2C-8BED-BA57A11E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717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Contenido y diseño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E3CFB7B5-2EDF-4910-81D5-7FFF06C2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766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SEMANA 2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7384CC1A-ADCB-48E7-909F-9A155721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Desarrollo y </a:t>
            </a:r>
            <a:r>
              <a:rPr sz="25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entrega</a:t>
            </a:r>
            <a:endParaRPr sz="2550" b="1">
              <a:solidFill>
                <a:srgbClr val="14223C"/>
              </a:solidFill>
              <a:latin typeface="Helvetica Neue"/>
              <a:ea typeface="Helvetica Neue"/>
              <a:cs typeface="Helvetica Neue"/>
            </a:endParaRPr>
          </a:p>
        </p:txBody>
      </p:sp>
      <p:pic>
        <p:nvPicPr>
          <p:cNvPr id="31" name="Imagen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b2c1524a654966"/>
          <a:srcRect xmlns:a="http://schemas.openxmlformats.org/drawingml/2006/main" l="3245" t="0" r="32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105025"/>
            <a:ext cx="2362200" cy="2876550"/>
          </a:xfrm>
          <a:prstGeom xmlns:a="http://schemas.openxmlformats.org/drawingml/2006/main" prst="rect">
            <a:avLst/>
          </a:prstGeom>
        </p:spPr>
      </p:pic>
      <p:sp>
        <p:nvSpPr>
          <p:cNvPr id="11" name="Rectángulo redondeado 10">
            <a:extLst xmlns:a="http://schemas.openxmlformats.org/drawingml/2006/main">
              <a:ext uri="{FF2B5EF4-FFF2-40B4-BE49-F238E27FC236}">
                <a16:creationId xmlns:a16="http://schemas.microsoft.com/office/drawing/2014/main" id="{F116E406-40B2-4184-9EDB-F0489F88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05025"/>
            <a:ext cx="2857500" cy="28765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2D5FBE"/>
          </a:solidFill>
          <a:ln xmlns:a="http://schemas.openxmlformats.org/drawingml/2006/main" w="0">
            <a:solidFill>
              <a:srgbClr val="2D5FBE"/>
            </a:solidFill>
          </a:ln>
        </p:spPr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217CA04B-E85E-4966-936B-9069A188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57450"/>
            <a:ext cx="2428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S/ 499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573A700B-FB89-4415-82C7-FF8E5CA3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290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Landing page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F4F69E03-428A-4BC0-8791-0689CEDD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433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AC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6ACCA"/>
                </a:solidFill>
                <a:latin typeface="Helvetica Neue"/>
                <a:ea typeface="Helvetica Neue"/>
                <a:cs typeface="Helvetica Neue"/>
              </a:rPr>
              <a:t>★★★★★★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E9870FEA-1404-406A-8F5D-2359E5F6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43400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6AC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6ACCA"/>
                </a:solidFill>
                <a:latin typeface="Helvetica Neue"/>
                <a:ea typeface="Helvetica Neue"/>
                <a:cs typeface="Helvetica Neue"/>
              </a:rPr>
              <a:t>60 % de descuento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D0AB53BE-6177-4BBB-BB22-CA12EB4A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Más visibilidad.</a:t>
            </a:r>
          </a:p>
          <a:p xmlns:a="http://schemas.openxmlformats.org/drawingml/2006/main">
            <a:pPr>
              <a:buNone/>
              <a:defRPr sz="187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Más confianza para la marca.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F67B69E5-0720-47F8-B45F-E2825B88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Precio final de la landing. El dominio y el soporte mensual se detallan en la siguiente propuesta.</a:t>
            </a:r>
          </a:p>
        </p:txBody>
      </p:sp>
      <p:sp>
        <p:nvSpPr>
          <p:cNvPr id="20" name="Decoración azul superior 5">
            <a:extLst xmlns:a="http://schemas.openxmlformats.org/drawingml/2006/main">
              <a:ext uri="{FF2B5EF4-FFF2-40B4-BE49-F238E27FC236}">
                <a16:creationId xmlns:a16="http://schemas.microsoft.com/office/drawing/2014/main" id="{661C5B26-8954-4585-BD89-34754ED0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66687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21" name="Decoración azul inferior 5">
            <a:extLst xmlns:a="http://schemas.openxmlformats.org/drawingml/2006/main">
              <a:ext uri="{FF2B5EF4-FFF2-40B4-BE49-F238E27FC236}">
                <a16:creationId xmlns:a16="http://schemas.microsoft.com/office/drawing/2014/main" id="{71FDF2A4-A1E4-4368-97C3-D95EACA0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5905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8F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210386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4C105B2-35DD-4C6E-8183-AAE57216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TLOC / PROPUESTA WEB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C0E21A04-7463-4948-9A5A-3DB9490C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Dominio y soporte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472AF9E5-BCD8-4607-8619-39C7A40C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C213C7E7-A261-4DC6-A777-D0F1612B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COSTOS CLAROS</a:t>
            </a:r>
          </a:p>
        </p:txBody>
      </p:sp>
      <p:pic>
        <p:nvPicPr>
          <p:cNvPr id="23" name="Imagen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d82af90fea411d"/>
          <a:srcRect xmlns:a="http://schemas.openxmlformats.org/drawingml/2006/main" l="15570" t="0" r="155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152650"/>
            <a:ext cx="2990850" cy="3257550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1576A89D-DB76-4925-8573-B3266B02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238375"/>
            <a:ext cx="419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USD 15 a 20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5AEA9D6D-5C5A-4EC0-9B84-9F043FE5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622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Dominio anual estimado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D020254B-C00C-41D4-A452-E5C6B845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813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Nombre a conversar</a:t>
            </a:r>
          </a:p>
          <a:p xmlns:a="http://schemas.openxmlformats.org/drawingml/2006/main">
            <a:pPr>
              <a:buNone/>
              <a:def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según disponibilidad.</a:t>
            </a:r>
          </a:p>
        </p:txBody>
      </p:sp>
      <p:sp>
        <p:nvSpPr>
          <p:cNvPr id="9" name="Rectángulo redondeado 8">
            <a:extLst xmlns:a="http://schemas.openxmlformats.org/drawingml/2006/main">
              <a:ext uri="{FF2B5EF4-FFF2-40B4-BE49-F238E27FC236}">
                <a16:creationId xmlns:a16="http://schemas.microsoft.com/office/drawing/2014/main" id="{455B9CA1-C603-460B-8691-DC89DB6E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52650"/>
            <a:ext cx="3486150" cy="32575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2D5FBE"/>
          </a:solidFill>
          <a:ln xmlns:a="http://schemas.openxmlformats.org/drawingml/2006/main" w="0">
            <a:solidFill>
              <a:srgbClr val="2D5FBE"/>
            </a:solidFill>
          </a:ln>
        </p:spPr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E1ED7AC0-3046-4E8F-B9C1-347D7862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495550"/>
            <a:ext cx="2714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S/ 19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89662D08-7917-43C2-99D2-B956637F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289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al mes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C3BFB530-8BD4-46D9-8B29-060135A5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90950"/>
            <a:ext cx="271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6AC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6ACCA"/>
                </a:solidFill>
                <a:latin typeface="Helvetica Neue"/>
                <a:ea typeface="Helvetica Neue"/>
                <a:cs typeface="Helvetica Neue"/>
              </a:rPr>
              <a:t>Soporte para cambios pequeños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08C8FBCC-81C5-448C-AA3E-689DED1C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95800"/>
            <a:ext cx="2714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Horarios, textos, precios, fotos y promociones.</a:t>
            </a:r>
          </a:p>
          <a:p xmlns:a="http://schemas.openxmlformats.org/drawingml/2006/main">
            <a:pPr>
              <a:buNone/>
              <a:defRPr sz="112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Con material de TLOC.</a:t>
            </a:r>
          </a:p>
          <a:p xmlns:a="http://schemas.openxmlformats.org/drawingml/2006/main">
            <a:pPr>
              <a:buNone/>
              <a:defRPr sz="112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Cada cambio se coordina con su plazo.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349DD896-25B4-47F7-8A6C-45FB3731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28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El dominio se paga aparte. El soporte comienza cuando se publique la landing.</a:t>
            </a:r>
          </a:p>
        </p:txBody>
      </p:sp>
      <p:sp>
        <p:nvSpPr>
          <p:cNvPr id="17" name="Decoración azul superior 6">
            <a:extLst xmlns:a="http://schemas.openxmlformats.org/drawingml/2006/main">
              <a:ext uri="{FF2B5EF4-FFF2-40B4-BE49-F238E27FC236}">
                <a16:creationId xmlns:a16="http://schemas.microsoft.com/office/drawing/2014/main" id="{AF2A3885-FEF7-46AA-B418-CEF28FD5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66687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18" name="Decoración azul inferior 6">
            <a:extLst xmlns:a="http://schemas.openxmlformats.org/drawingml/2006/main">
              <a:ext uri="{FF2B5EF4-FFF2-40B4-BE49-F238E27FC236}">
                <a16:creationId xmlns:a16="http://schemas.microsoft.com/office/drawing/2014/main" id="{45CCC577-CF9B-4141-A8B0-79A68693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5905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8F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561011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5878B5C0-96B9-42B2-BF54-57F14D19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TLOC / PROPUESTA WEB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F074E496-C8E7-4368-94F2-5006BF4E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El siguiente paso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B1D82CC9-F4AC-4A81-9FB1-F24BF6B1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F42F435E-DE0F-47D5-A2F7-B6FB76D6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UNA BASE PARA CRECER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D2C670DB-546B-4308-9C9E-6AEC399D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628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Primero hacemos visible la marca.</a:t>
            </a:r>
          </a:p>
          <a:p xmlns:a="http://schemas.openxmlformats.org/drawingml/2006/main">
            <a:pPr>
              <a:buNone/>
              <a:defRPr sz="28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Después ampliamos la operación.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F4432DD-9B03-4FB6-B499-26AA67E6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666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La landing puede evolucionar a un sistema de pedidos,</a:t>
            </a:r>
          </a:p>
          <a:p xmlns:a="http://schemas.openxmlformats.org/drawingml/2006/main">
            <a:pPr>
              <a:buNone/>
              <a:def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facturación, boletas e impresión según la necesidad de TLOC.</a:t>
            </a:r>
          </a:p>
        </p:txBody>
      </p:sp>
      <p:pic>
        <p:nvPicPr>
          <p:cNvPr id="22" name="Imagen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992866fc1d4ceb"/>
          <a:srcRect xmlns:a="http://schemas.openxmlformats.org/drawingml/2006/main" l="0" t="10857" r="0" b="108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43875" y="1819275"/>
            <a:ext cx="3333750" cy="2609850"/>
          </a:xfrm>
          <a:prstGeom xmlns:a="http://schemas.openxmlformats.org/drawingml/2006/main" prst="rect">
            <a:avLst/>
          </a:prstGeom>
        </p:spPr>
      </p:pic>
      <p:sp>
        <p:nvSpPr>
          <p:cNvPr id="8" name="Rectángulo redondeado 7">
            <a:extLst xmlns:a="http://schemas.openxmlformats.org/drawingml/2006/main">
              <a:ext uri="{FF2B5EF4-FFF2-40B4-BE49-F238E27FC236}">
                <a16:creationId xmlns:a16="http://schemas.microsoft.com/office/drawing/2014/main" id="{A8162558-40D2-469B-9F3A-FD4537CE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877550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D5FBE"/>
          </a:solidFill>
          <a:ln xmlns:a="http://schemas.openxmlformats.org/drawingml/2006/main" w="0">
            <a:solidFill>
              <a:srgbClr val="2D5FBE"/>
            </a:solidFill>
          </a:ln>
        </p:spPr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CB4A5F9E-286C-4EC5-89E8-61D9B20F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029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Link del prototipo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5FF18E70-EA93-4EB9-804A-13BB55A5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1967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6AC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6ACCA"/>
                </a:solidFill>
                <a:latin typeface="Helvetica Neue"/>
                <a:ea typeface="Helvetica Neue"/>
                <a:cs typeface="Helvetica Neue"/>
              </a:rPr>
              <a:t>[ PEGAR LINK AQUÍ ]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77A199CF-93BF-4534-BF70-615F0B6B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Propuesta inicial: S/ 499 · Plazo: 2 semanas · Soporte: S/ 19 al mes</a:t>
            </a:r>
          </a:p>
        </p:txBody>
      </p:sp>
      <p:sp>
        <p:nvSpPr>
          <p:cNvPr id="14" name="Decoración azul superior 7">
            <a:extLst xmlns:a="http://schemas.openxmlformats.org/drawingml/2006/main">
              <a:ext uri="{FF2B5EF4-FFF2-40B4-BE49-F238E27FC236}">
                <a16:creationId xmlns:a16="http://schemas.microsoft.com/office/drawing/2014/main" id="{6744F778-A6A2-4C8B-8670-20F5211A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166687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15" name="Decoración azul inferior 7">
            <a:extLst xmlns:a="http://schemas.openxmlformats.org/drawingml/2006/main">
              <a:ext uri="{FF2B5EF4-FFF2-40B4-BE49-F238E27FC236}">
                <a16:creationId xmlns:a16="http://schemas.microsoft.com/office/drawing/2014/main" id="{F788C1F8-17B6-4A59-923E-B8F6FE2C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5905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8F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000584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2026-09-06T05:04:59.3660000Z</dcterms:created>
  <dcterms:modified xsi:type="dcterms:W3CDTF">2026-09-06T05:04:59.3660000Z</dcterms:modified>
</coreProperties>
</file>