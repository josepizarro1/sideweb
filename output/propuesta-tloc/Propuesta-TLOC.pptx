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4"/>
  </p:normalViewPr>
  <p:slideViewPr>
    <p:cSldViewPr snapToGrid="0">
      <p:cViewPr varScale="1">
        <p:scale>
          <a:sx n="112" d="100"/>
          <a:sy n="112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Diseño y alcance propuestos para la landing de TLOC. Imagen de referencia del archivo existente public/tlock/01-hero-principal-menu.webp. Validar fotografías y productos con el cliente antes de publicar.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Condición solicitada: precio final S/ 499 y descuento del 60 %. Base matemática = 499 / 0,40 = S/ 1.247,50. Descuento = S/ 748,50. La referencia es propuesta y no acredita un precio histórico. Confirmar la base comercial antes de difundir la oferta. Dominio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Rango estimado de USD 15 a 20 al año indicado por el prestador en la conversación. No se ha consultado disponibilidad ni cotizado un dominio concreto. No incluye alojamiento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Posibilidades futuras solicitadas por el prestador, no incluidas en S/ 499 ni en el soporte mensual. La emisión fiscal e impresión requieren evaluación técnica y de los requisitos aplicables. No se promete una integración o certificación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comercial preparada a partir de las condiciones indicadas por el prestador del servicio. Septiembre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A383F5C-CCB8-4760-8D8C-0F921639BA8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3D0AC1-EAB5-42D2-BFAE-17E521430A3C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rcRect l="21771" r="21771"/>
          <a:stretch>
            <a:fillRect/>
          </a:stretch>
        </p:blipFill>
        <p:spPr>
          <a:xfrm>
            <a:off x="7029450" y="0"/>
            <a:ext cx="5162550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D608F78D-6E9C-416C-A405-2BA0F9EC448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6000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7200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  <a:r>
              <a:rPr sz="7200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</a:t>
            </a:r>
            <a:endParaRPr sz="7200" b="1" dirty="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DD0CA0-9AD9-4AFE-A09D-DA1C626A7BD0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6191250" cy="1504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Propuesta</a:t>
            </a:r>
            <a:r>
              <a:rPr sz="4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de</a:t>
            </a:r>
          </a:p>
          <a:p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landing page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CA9DB2-447A-424C-A7E1-F003C4CC1EBC}"/>
              </a:ext>
            </a:extLst>
          </p:cNvPr>
          <p:cNvSpPr>
            <a:spLocks noGrp="1"/>
          </p:cNvSpPr>
          <p:nvPr/>
        </p:nvSpPr>
        <p:spPr>
          <a:xfrm>
            <a:off x="647700" y="4448175"/>
            <a:ext cx="5810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Una web para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conocer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la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marca</a:t>
            </a:r>
            <a:endParaRPr sz="2025" b="0" dirty="0">
              <a:solidFill>
                <a:srgbClr val="EDF2FE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y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consultar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pedidos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2025" b="0" dirty="0" err="1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por</a:t>
            </a:r>
            <a:r>
              <a:rPr sz="2025" b="0" dirty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 WhatsApp.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B902AA5-C795-4B4E-9ED0-C2A5769ACCE6}"/>
              </a:ext>
            </a:extLst>
          </p:cNvPr>
          <p:cNvSpPr>
            <a:spLocks noGrp="1"/>
          </p:cNvSpPr>
          <p:nvPr/>
        </p:nvSpPr>
        <p:spPr>
          <a:xfrm>
            <a:off x="647700" y="6076950"/>
            <a:ext cx="552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 err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Septiembre</a:t>
            </a:r>
            <a:r>
              <a:rPr sz="1425" b="0" dirty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 de 2026</a:t>
            </a:r>
          </a:p>
        </p:txBody>
      </p:sp>
    </p:spTree>
    <p:extLst>
      <p:ext uri="{BB962C8B-B14F-4D97-AF65-F5344CB8AC3E}">
        <p14:creationId xmlns:p14="http://schemas.microsoft.com/office/powerpoint/2010/main" val="191330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DF27235-7EFD-474A-A965-E7DEE0DBDEF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AD6015-7587-4DD7-A431-532822238776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página para elegir y contactar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C6D8B0D-299C-4630-BB03-1A6112B7635B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497EF6-2154-48CD-BE71-2F6E537FB41B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A07715-5B22-4D13-874C-A8BCBA648F31}"/>
              </a:ext>
            </a:extLst>
          </p:cNvPr>
          <p:cNvSpPr>
            <a:spLocks noGrp="1"/>
          </p:cNvSpPr>
          <p:nvPr/>
        </p:nvSpPr>
        <p:spPr>
          <a:xfrm>
            <a:off x="1162050" y="2171700"/>
            <a:ext cx="5829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Productos que se entienden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7EA5EC-BAC2-4FE5-B2A1-3A7256AD4AA7}"/>
              </a:ext>
            </a:extLst>
          </p:cNvPr>
          <p:cNvSpPr>
            <a:spLocks noGrp="1"/>
          </p:cNvSpPr>
          <p:nvPr/>
        </p:nvSpPr>
        <p:spPr>
          <a:xfrm>
            <a:off x="1162050" y="2628900"/>
            <a:ext cx="58293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Sabores, presentaciones y fotografías</a:t>
            </a:r>
          </a:p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organizados en un solo lugar.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B7A2BC-749F-40CF-8873-91A456A64B3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7F8A4A-81A4-4AEF-B7A0-EA20E7A35EC7}"/>
              </a:ext>
            </a:extLst>
          </p:cNvPr>
          <p:cNvSpPr>
            <a:spLocks noGrp="1"/>
          </p:cNvSpPr>
          <p:nvPr/>
        </p:nvSpPr>
        <p:spPr>
          <a:xfrm>
            <a:off x="1162050" y="3571875"/>
            <a:ext cx="5829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Pedido directo por WhatsApp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F5300D-8AD5-4A17-968C-F9A3359567C0}"/>
              </a:ext>
            </a:extLst>
          </p:cNvPr>
          <p:cNvSpPr>
            <a:spLocks noGrp="1"/>
          </p:cNvSpPr>
          <p:nvPr/>
        </p:nvSpPr>
        <p:spPr>
          <a:xfrm>
            <a:off x="1162050" y="4029075"/>
            <a:ext cx="58293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Accesos visibles para consultar</a:t>
            </a:r>
          </a:p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disponibilidad y coordinar un pedido.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F4C5407-28C9-4200-827A-96030D04073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B15A79-50CC-4CA0-9282-FF36AEB5F656}"/>
              </a:ext>
            </a:extLst>
          </p:cNvPr>
          <p:cNvSpPr>
            <a:spLocks noGrp="1"/>
          </p:cNvSpPr>
          <p:nvPr/>
        </p:nvSpPr>
        <p:spPr>
          <a:xfrm>
            <a:off x="1162050" y="4972050"/>
            <a:ext cx="5829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Información útil para la visita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25D239-3ABA-4BB7-9BAC-C4F985CA43FF}"/>
              </a:ext>
            </a:extLst>
          </p:cNvPr>
          <p:cNvSpPr>
            <a:spLocks noGrp="1"/>
          </p:cNvSpPr>
          <p:nvPr/>
        </p:nvSpPr>
        <p:spPr>
          <a:xfrm>
            <a:off x="1162050" y="5429250"/>
            <a:ext cx="58293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Ubicación, horarios y enlaces</a:t>
            </a:r>
          </a:p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 las redes de TLOC.</a:t>
            </a: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3"/>
          <a:srcRect t="6103" b="6103"/>
          <a:stretch>
            <a:fillRect/>
          </a:stretch>
        </p:blipFill>
        <p:spPr>
          <a:xfrm>
            <a:off x="8096250" y="2028825"/>
            <a:ext cx="3486150" cy="382905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A207FFAB-EDF6-4BDC-BA56-16692AC70094}"/>
              </a:ext>
            </a:extLst>
          </p:cNvPr>
          <p:cNvSpPr>
            <a:spLocks noGrp="1"/>
          </p:cNvSpPr>
          <p:nvPr/>
        </p:nvSpPr>
        <p:spPr>
          <a:xfrm>
            <a:off x="8096250" y="600075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Referencia de contenido TLOC</a:t>
            </a:r>
          </a:p>
        </p:txBody>
      </p:sp>
    </p:spTree>
    <p:extLst>
      <p:ext uri="{BB962C8B-B14F-4D97-AF65-F5344CB8AC3E}">
        <p14:creationId xmlns:p14="http://schemas.microsoft.com/office/powerpoint/2010/main" val="155805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978E73DE-40D5-45F2-98EC-01F49B58B46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7F13EA-7770-4E18-A3E1-EC20A96B7A7F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Alcance de la landing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151BBD-DD2D-4E17-B763-880D67A87600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3A3E5D-7491-43CD-B5B0-761334CE217B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9DFEEB-CECD-4894-8B93-954220773401}"/>
              </a:ext>
            </a:extLst>
          </p:cNvPr>
          <p:cNvSpPr>
            <a:spLocks noGrp="1"/>
          </p:cNvSpPr>
          <p:nvPr/>
        </p:nvSpPr>
        <p:spPr>
          <a:xfrm>
            <a:off x="1162050" y="2105025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Portada de marca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4382F8-5019-4F21-8FDA-B64ED6C9F670}"/>
              </a:ext>
            </a:extLst>
          </p:cNvPr>
          <p:cNvSpPr>
            <a:spLocks noGrp="1"/>
          </p:cNvSpPr>
          <p:nvPr/>
        </p:nvSpPr>
        <p:spPr>
          <a:xfrm>
            <a:off x="1162050" y="2562225"/>
            <a:ext cx="44958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Mensaje principal y acceso al pedido.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09AC20-13A4-4F88-9027-FC9697B5E31D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7C7A888-ED68-4C09-92D7-229D3277B955}"/>
              </a:ext>
            </a:extLst>
          </p:cNvPr>
          <p:cNvSpPr>
            <a:spLocks noGrp="1"/>
          </p:cNvSpPr>
          <p:nvPr/>
        </p:nvSpPr>
        <p:spPr>
          <a:xfrm>
            <a:off x="1162050" y="3476625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Sabores y presentaciones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014368-E1F4-4DDC-B30E-4DC04FFC2375}"/>
              </a:ext>
            </a:extLst>
          </p:cNvPr>
          <p:cNvSpPr>
            <a:spLocks noGrp="1"/>
          </p:cNvSpPr>
          <p:nvPr/>
        </p:nvSpPr>
        <p:spPr>
          <a:xfrm>
            <a:off x="1162050" y="3933825"/>
            <a:ext cx="44958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Productos con fotos y descripciones.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FB57BC4-3652-4BE3-8AF4-3496E68F6EAA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2678E28-9854-4079-9FB3-6AF9B1E899E3}"/>
              </a:ext>
            </a:extLst>
          </p:cNvPr>
          <p:cNvSpPr>
            <a:spLocks noGrp="1"/>
          </p:cNvSpPr>
          <p:nvPr/>
        </p:nvSpPr>
        <p:spPr>
          <a:xfrm>
            <a:off x="1162050" y="4848225"/>
            <a:ext cx="4495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Experiencia TLOC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7059321-3AB5-4EC8-B363-418D05BBD4FD}"/>
              </a:ext>
            </a:extLst>
          </p:cNvPr>
          <p:cNvSpPr>
            <a:spLocks noGrp="1"/>
          </p:cNvSpPr>
          <p:nvPr/>
        </p:nvSpPr>
        <p:spPr>
          <a:xfrm>
            <a:off x="1162050" y="5305425"/>
            <a:ext cx="44958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Contenido breve sobre la marca.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B4F934-4308-4E94-9AF4-B6CBEC3CFD5D}"/>
              </a:ext>
            </a:extLst>
          </p:cNvPr>
          <p:cNvSpPr>
            <a:spLocks noGrp="1"/>
          </p:cNvSpPr>
          <p:nvPr/>
        </p:nvSpPr>
        <p:spPr>
          <a:xfrm>
            <a:off x="6572250" y="21050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1E6C45C-DBA7-4310-ABFD-C0EDE275084F}"/>
              </a:ext>
            </a:extLst>
          </p:cNvPr>
          <p:cNvSpPr>
            <a:spLocks noGrp="1"/>
          </p:cNvSpPr>
          <p:nvPr/>
        </p:nvSpPr>
        <p:spPr>
          <a:xfrm>
            <a:off x="7124700" y="2105025"/>
            <a:ext cx="44005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Boxes y promociones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BAF1B3C-17D8-4B34-AB07-DFEC54E63526}"/>
              </a:ext>
            </a:extLst>
          </p:cNvPr>
          <p:cNvSpPr>
            <a:spLocks noGrp="1"/>
          </p:cNvSpPr>
          <p:nvPr/>
        </p:nvSpPr>
        <p:spPr>
          <a:xfrm>
            <a:off x="7124700" y="2562225"/>
            <a:ext cx="44005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Espacio para opciones de regalo</a:t>
            </a:r>
          </a:p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campañas con material de TLOC.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B2FC95-1F7E-4C2A-80BC-5880779A22D7}"/>
              </a:ext>
            </a:extLst>
          </p:cNvPr>
          <p:cNvSpPr>
            <a:spLocks noGrp="1"/>
          </p:cNvSpPr>
          <p:nvPr/>
        </p:nvSpPr>
        <p:spPr>
          <a:xfrm>
            <a:off x="6572250" y="34766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99D6C3C-AB23-45D3-837C-808DAFAAB084}"/>
              </a:ext>
            </a:extLst>
          </p:cNvPr>
          <p:cNvSpPr>
            <a:spLocks noGrp="1"/>
          </p:cNvSpPr>
          <p:nvPr/>
        </p:nvSpPr>
        <p:spPr>
          <a:xfrm>
            <a:off x="7124700" y="3476625"/>
            <a:ext cx="44005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Ubicación y horarios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FDC5C-F2FD-45E3-B754-B5BA695818B4}"/>
              </a:ext>
            </a:extLst>
          </p:cNvPr>
          <p:cNvSpPr>
            <a:spLocks noGrp="1"/>
          </p:cNvSpPr>
          <p:nvPr/>
        </p:nvSpPr>
        <p:spPr>
          <a:xfrm>
            <a:off x="7124700" y="3933825"/>
            <a:ext cx="44005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Datos de atención y enlace al mapa.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AEEE1BE-710E-43A6-960C-B43977C33E5D}"/>
              </a:ext>
            </a:extLst>
          </p:cNvPr>
          <p:cNvSpPr>
            <a:spLocks noGrp="1"/>
          </p:cNvSpPr>
          <p:nvPr/>
        </p:nvSpPr>
        <p:spPr>
          <a:xfrm>
            <a:off x="6572250" y="48482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90FE32-AD5B-44B5-B60D-895CED524C62}"/>
              </a:ext>
            </a:extLst>
          </p:cNvPr>
          <p:cNvSpPr>
            <a:spLocks noGrp="1"/>
          </p:cNvSpPr>
          <p:nvPr/>
        </p:nvSpPr>
        <p:spPr>
          <a:xfrm>
            <a:off x="7124700" y="4848225"/>
            <a:ext cx="44005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Contacto y redes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274057F-DC88-4B9D-BF16-8C8D9BCADFC6}"/>
              </a:ext>
            </a:extLst>
          </p:cNvPr>
          <p:cNvSpPr>
            <a:spLocks noGrp="1"/>
          </p:cNvSpPr>
          <p:nvPr/>
        </p:nvSpPr>
        <p:spPr>
          <a:xfrm>
            <a:off x="7124700" y="5305425"/>
            <a:ext cx="44005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WhatsApp y perfiles de la marca.</a:t>
            </a:r>
          </a:p>
        </p:txBody>
      </p:sp>
    </p:spTree>
    <p:extLst>
      <p:ext uri="{BB962C8B-B14F-4D97-AF65-F5344CB8AC3E}">
        <p14:creationId xmlns:p14="http://schemas.microsoft.com/office/powerpoint/2010/main" val="1633420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7A26926-AB8F-4F3F-9332-C251E515602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2D64821-1875-4EFD-AC98-30B385D46E81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Diseño y entrega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5589F67-A915-459F-8E2C-492EC96417F5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1FB672-F9DF-4309-882E-9894863C7A3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64770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identidad de TLOC</a:t>
            </a:r>
          </a:p>
          <a:p>
            <a:pPr>
              <a:def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en escritorio y celular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431A99-0CEE-410D-A9A8-56285626D778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690562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Conservamos el azul, la tipografía expresiva</a:t>
            </a:r>
          </a:p>
          <a:p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los recursos de marca de la propuesta actual.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16F28AC-BDB0-4C89-B912-6C70F99A1AB7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14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Incluye adaptación móvil, configuración de enlaces,</a:t>
            </a:r>
          </a:p>
          <a:p>
            <a:pPr>
              <a:def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revisión final y puesta en línea de la landing.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0" y="2466975"/>
            <a:ext cx="2324100" cy="23241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9DAC7D7-89CE-4E4D-834E-BA165A889965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TLOC entrega o confirma textos, fotos, precios y datos de atención.</a:t>
            </a:r>
          </a:p>
          <a:p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alojamiento y sus condiciones se acuerdan antes de iniciar.</a:t>
            </a:r>
          </a:p>
        </p:txBody>
      </p:sp>
    </p:spTree>
    <p:extLst>
      <p:ext uri="{BB962C8B-B14F-4D97-AF65-F5344CB8AC3E}">
        <p14:creationId xmlns:p14="http://schemas.microsoft.com/office/powerpoint/2010/main" val="54134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A3665B3-2597-454C-92FA-B4C86E09FCB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D572406-9B19-48F3-B2DD-F73631C67444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Cronograma: máximo 2 semanas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AEA8613-5F23-4B74-A1CA-044D06B2F9A5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46AC15-FD47-4A63-A7C1-0D65F8C82482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4EF2C3-41D4-40A0-BE91-C71F590DCDBC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504825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Contenido y diseño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35D76A-2A86-4260-89DB-DA2E4721589B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1 y 2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Recepción de material, definición del dominio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organización del contenido.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2782BF9-1848-4980-9F16-6F429429F02C}"/>
              </a:ext>
            </a:extLst>
          </p:cNvPr>
          <p:cNvSpPr>
            <a:spLocks noGrp="1"/>
          </p:cNvSpPr>
          <p:nvPr/>
        </p:nvSpPr>
        <p:spPr>
          <a:xfrm>
            <a:off x="609600" y="454342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3 al 7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Diseño de la landing y primera revisión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 TLOC.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BBAC621-9935-4F87-A5B9-67571179C715}"/>
              </a:ext>
            </a:extLst>
          </p:cNvPr>
          <p:cNvSpPr>
            <a:spLocks noGrp="1"/>
          </p:cNvSpPr>
          <p:nvPr/>
        </p:nvSpPr>
        <p:spPr>
          <a:xfrm>
            <a:off x="6591300" y="2066925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89FE90-4F0B-49F1-B63E-A2340A86BE07}"/>
              </a:ext>
            </a:extLst>
          </p:cNvPr>
          <p:cNvSpPr>
            <a:spLocks noGrp="1"/>
          </p:cNvSpPr>
          <p:nvPr/>
        </p:nvSpPr>
        <p:spPr>
          <a:xfrm>
            <a:off x="6591300" y="2533650"/>
            <a:ext cx="5095875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Desarrollo y entrega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73E447-E9FF-4199-8719-E10B22961178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8 al 11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Implementación, adaptación móvil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configuración de enlaces.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2F2D718-C3A0-4898-B415-744EED837230}"/>
              </a:ext>
            </a:extLst>
          </p:cNvPr>
          <p:cNvSpPr>
            <a:spLocks noGrp="1"/>
          </p:cNvSpPr>
          <p:nvPr/>
        </p:nvSpPr>
        <p:spPr>
          <a:xfrm>
            <a:off x="6591300" y="454342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Días 12 al 14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Ajustes finales, pruebas y publicación</a:t>
            </a:r>
          </a:p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con la aprobación de TLOC.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9356A79-D6B0-4542-9586-1316514ED90B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14 días calendario desde el inicio acordado, con material completo.</a:t>
            </a:r>
          </a:p>
          <a:p>
            <a:pPr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Para cumplir el plazo, coordinamos las revisiones y aprobaciones dentro de esas dos semanas.</a:t>
            </a:r>
          </a:p>
        </p:txBody>
      </p:sp>
    </p:spTree>
    <p:extLst>
      <p:ext uri="{BB962C8B-B14F-4D97-AF65-F5344CB8AC3E}">
        <p14:creationId xmlns:p14="http://schemas.microsoft.com/office/powerpoint/2010/main" val="120933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6833DFE-3387-4CCD-801B-3ECB139D981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E64401-71BC-4CAD-B887-CEE36F3757A1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Inversión en la landing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D56CE4-6129-4B57-B0FB-759268EB496C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6E4D28-BE0F-4845-9320-320E45C17897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71437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499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ADC4E1-E2D2-4902-B2D4-1C57BD86342A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66675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Precio final de la landing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41A979D-96B8-4846-A7B7-BCD68C6B6A05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7429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60 % de descuento comercial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A6AB1D-C3FB-4A41-ACC9-CE6F6192203F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8382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Valor referencial propuesto: S/ 1.247,50</a:t>
            </a:r>
          </a:p>
          <a:p>
            <a:pPr>
              <a:def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Descuento aplicado: S/ 748,50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1799B0-F146-4372-A6F5-4D8CCA69A553}"/>
              </a:ext>
            </a:extLst>
          </p:cNvPr>
          <p:cNvSpPr>
            <a:spLocks noGrp="1"/>
          </p:cNvSpPr>
          <p:nvPr/>
        </p:nvSpPr>
        <p:spPr>
          <a:xfrm>
            <a:off x="723900" y="6029325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Incluye 1 mes de soporte sin costo desde la publicación. Dominio aparte.</a:t>
            </a:r>
          </a:p>
          <a:p>
            <a:pPr>
              <a:def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El valor referencial corresponde a esta propuesta, no a un precio histórico.</a:t>
            </a:r>
          </a:p>
        </p:txBody>
      </p:sp>
    </p:spTree>
    <p:extLst>
      <p:ext uri="{BB962C8B-B14F-4D97-AF65-F5344CB8AC3E}">
        <p14:creationId xmlns:p14="http://schemas.microsoft.com/office/powerpoint/2010/main" val="1206221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304AB03-2185-4B53-8786-9E76DA9C876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87A711-EB52-4C8E-9B5B-8969D9AFAF83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propio para TLOC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601AB6-E160-46E0-84C6-1B1F5338B718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C77BF8B-81B4-4F8B-B166-1548BA956B75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382250" cy="1085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USD 15 a 20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7DE6CD-E92B-4D5C-ABE3-197B29F571CD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10668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Costo anual estimado del dominio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6B9563E-15DB-4FD0-A50D-8AB623AF3CC1}"/>
              </a:ext>
            </a:extLst>
          </p:cNvPr>
          <p:cNvSpPr>
            <a:spLocks noGrp="1"/>
          </p:cNvSpPr>
          <p:nvPr/>
        </p:nvSpPr>
        <p:spPr>
          <a:xfrm>
            <a:off x="666750" y="4371975"/>
            <a:ext cx="10477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Nombre a conversar con TLOC,</a:t>
            </a:r>
          </a:p>
          <a:p>
            <a:pPr>
              <a:def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según disponibilidad al momento del registro.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537A1B-16B3-408D-91D1-E6AB95E4E2A2}"/>
              </a:ext>
            </a:extLst>
          </p:cNvPr>
          <p:cNvSpPr>
            <a:spLocks noGrp="1"/>
          </p:cNvSpPr>
          <p:nvPr/>
        </p:nvSpPr>
        <p:spPr>
          <a:xfrm>
            <a:off x="666750" y="565785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Pago adicional a la landing. La tarifa final depende de la extensión,</a:t>
            </a:r>
          </a:p>
          <a:p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proveedor y el precio de renovación. El dominio se renueva cada año.</a:t>
            </a:r>
          </a:p>
        </p:txBody>
      </p:sp>
    </p:spTree>
    <p:extLst>
      <p:ext uri="{BB962C8B-B14F-4D97-AF65-F5344CB8AC3E}">
        <p14:creationId xmlns:p14="http://schemas.microsoft.com/office/powerpoint/2010/main" val="160155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DEC9B4D-B825-4AEB-A8A1-345F30A4645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8B32E2F-D5A8-40A1-8BE0-B8163D55F24D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Soporte para mantener la web al día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7F4E8EC-940C-4546-8050-B61CD10A7A27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E477DE-1752-40BE-8486-C8D0F84FC32E}"/>
              </a:ext>
            </a:extLst>
          </p:cNvPr>
          <p:cNvSpPr>
            <a:spLocks noGrp="1"/>
          </p:cNvSpPr>
          <p:nvPr/>
        </p:nvSpPr>
        <p:spPr>
          <a:xfrm>
            <a:off x="609600" y="1990725"/>
            <a:ext cx="50006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1.er mes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B07CE69-42AD-4F21-BD8B-E7FA7956FB0F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Sin costo desde la publicación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FE6287-43C7-449B-B1F0-4C22AF2466AC}"/>
              </a:ext>
            </a:extLst>
          </p:cNvPr>
          <p:cNvSpPr>
            <a:spLocks noGrp="1"/>
          </p:cNvSpPr>
          <p:nvPr/>
        </p:nvSpPr>
        <p:spPr>
          <a:xfrm>
            <a:off x="6667500" y="2066925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Desde el 2.º mes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8F899F7-552A-44B3-8316-A9AE7EFC915C}"/>
              </a:ext>
            </a:extLst>
          </p:cNvPr>
          <p:cNvSpPr>
            <a:spLocks noGrp="1"/>
          </p:cNvSpPr>
          <p:nvPr/>
        </p:nvSpPr>
        <p:spPr>
          <a:xfrm>
            <a:off x="6667500" y="2581275"/>
            <a:ext cx="4953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S/ 19 al mes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2562BEB-0A6A-4618-B010-294BE55AD840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6667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Cambios pequeños incluidos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1E25EA-263E-4167-9E3E-E30C899B1ADC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10763250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Actualización de horarios o días sin atención.</a:t>
            </a:r>
          </a:p>
          <a:p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Cambios de textos, precios y fotografías.</a:t>
            </a:r>
          </a:p>
          <a:p>
            <a:pPr>
              <a:def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Adaptación de promociones a las secciones existentes.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470F031-6298-499D-BCDE-0112F35A7DC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8394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TLOC envía el material y la fecha deseada. Confirmamos el alcance y el plazo de cada cambio.</a:t>
            </a:r>
          </a:p>
          <a:p>
            <a:pPr>
              <a:def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Nuevas secciones, rediseños, producción de material y funciones adicionales se cotizan aparte.</a:t>
            </a:r>
          </a:p>
        </p:txBody>
      </p:sp>
    </p:spTree>
    <p:extLst>
      <p:ext uri="{BB962C8B-B14F-4D97-AF65-F5344CB8AC3E}">
        <p14:creationId xmlns:p14="http://schemas.microsoft.com/office/powerpoint/2010/main" val="153857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406859F-46D8-4F3F-93DD-4ED9B3F3390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F2A6665-8389-432A-927C-D5E6EFF396E3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 futuro: un sistema a medida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612304-8402-4138-9C6A-AF795110B364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0D4085-C185-45AF-AA03-B63CC49BEA58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landing puede ser el primer paso</a:t>
            </a:r>
          </a:p>
          <a:p>
            <a:pPr>
              <a:def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para una solución más completa.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5E5F71-707A-4F3E-A99D-3AA5219FD8BF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DB758A-70FD-416C-92D3-993FDA2EE9EF}"/>
              </a:ext>
            </a:extLst>
          </p:cNvPr>
          <p:cNvSpPr>
            <a:spLocks noGrp="1"/>
          </p:cNvSpPr>
          <p:nvPr/>
        </p:nvSpPr>
        <p:spPr>
          <a:xfrm>
            <a:off x="1162050" y="3419475"/>
            <a:ext cx="4591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Pedidos y operación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15FB865-E8EC-410E-B98A-45AFBF2356EF}"/>
              </a:ext>
            </a:extLst>
          </p:cNvPr>
          <p:cNvSpPr>
            <a:spLocks noGrp="1"/>
          </p:cNvSpPr>
          <p:nvPr/>
        </p:nvSpPr>
        <p:spPr>
          <a:xfrm>
            <a:off x="1162050" y="3876675"/>
            <a:ext cx="45910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Gestión de pedidos, productos</a:t>
            </a:r>
          </a:p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y disponibilidad según la necesidad.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2A707B-ADA2-40F7-83D3-85558D569A1E}"/>
              </a:ext>
            </a:extLst>
          </p:cNvPr>
          <p:cNvSpPr>
            <a:spLocks noGrp="1"/>
          </p:cNvSpPr>
          <p:nvPr/>
        </p:nvSpPr>
        <p:spPr>
          <a:xfrm>
            <a:off x="6524625" y="34194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2D117A6-2AE7-4CB9-A448-907BA869673C}"/>
              </a:ext>
            </a:extLst>
          </p:cNvPr>
          <p:cNvSpPr>
            <a:spLocks noGrp="1"/>
          </p:cNvSpPr>
          <p:nvPr/>
        </p:nvSpPr>
        <p:spPr>
          <a:xfrm>
            <a:off x="7077075" y="3419475"/>
            <a:ext cx="4591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Comprobantes y caja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378D23-3427-4C59-BA22-A75919FB4E87}"/>
              </a:ext>
            </a:extLst>
          </p:cNvPr>
          <p:cNvSpPr>
            <a:spLocks noGrp="1"/>
          </p:cNvSpPr>
          <p:nvPr/>
        </p:nvSpPr>
        <p:spPr>
          <a:xfrm>
            <a:off x="7077075" y="3876675"/>
            <a:ext cx="45910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Evaluación de facturación, boletas</a:t>
            </a:r>
          </a:p>
          <a:p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 impresión de comprobantes.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2C9D73-1AA2-4D9E-B24E-701A3AC886DE}"/>
              </a:ext>
            </a:extLst>
          </p:cNvPr>
          <p:cNvSpPr>
            <a:spLocks noGrp="1"/>
          </p:cNvSpPr>
          <p:nvPr/>
        </p:nvSpPr>
        <p:spPr>
          <a:xfrm>
            <a:off x="609600" y="5448300"/>
            <a:ext cx="105727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Cada ampliación requiere definir procesos, integraciones y equipos.</a:t>
            </a:r>
          </a:p>
          <a:p>
            <a:pPr>
              <a:def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Alcance, costo y cronograma se cotizan en una propuesta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81230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F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FFA83757-304A-4111-B3B8-3C737615071F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619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520BD08-501D-4A5F-B0A5-8241FBD0915E}"/>
              </a:ext>
            </a:extLst>
          </p:cNvPr>
          <p:cNvSpPr>
            <a:spLocks noGrp="1"/>
          </p:cNvSpPr>
          <p:nvPr/>
        </p:nvSpPr>
        <p:spPr>
          <a:xfrm>
            <a:off x="609600" y="885825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 que necesitamos para comenzar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F65567-C9D3-44F3-A8C0-49FBE7541015}"/>
              </a:ext>
            </a:extLst>
          </p:cNvPr>
          <p:cNvSpPr>
            <a:spLocks noGrp="1"/>
          </p:cNvSpPr>
          <p:nvPr/>
        </p:nvSpPr>
        <p:spPr>
          <a:xfrm>
            <a:off x="11087100" y="6324600"/>
            <a:ext cx="476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AE6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D082097-9B99-425F-B2D2-D269BEC2E8E1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B5A1B7-08B4-48EF-89EE-6245B6F162FE}"/>
              </a:ext>
            </a:extLst>
          </p:cNvPr>
          <p:cNvSpPr>
            <a:spLocks noGrp="1"/>
          </p:cNvSpPr>
          <p:nvPr/>
        </p:nvSpPr>
        <p:spPr>
          <a:xfrm>
            <a:off x="1162050" y="2066925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Confirmación de la propuesta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DA1A3B-8FB8-4535-8A1C-97B972A98123}"/>
              </a:ext>
            </a:extLst>
          </p:cNvPr>
          <p:cNvSpPr>
            <a:spLocks noGrp="1"/>
          </p:cNvSpPr>
          <p:nvPr/>
        </p:nvSpPr>
        <p:spPr>
          <a:xfrm>
            <a:off x="1162050" y="2524125"/>
            <a:ext cx="99250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Alcance de la landing y condiciones de pago.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2837F5D-FC89-4A74-9C5C-657AD0CFEEDD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738016-A9E6-454A-82BB-48B7C5C5B44D}"/>
              </a:ext>
            </a:extLst>
          </p:cNvPr>
          <p:cNvSpPr>
            <a:spLocks noGrp="1"/>
          </p:cNvSpPr>
          <p:nvPr/>
        </p:nvSpPr>
        <p:spPr>
          <a:xfrm>
            <a:off x="1162050" y="3390900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Material de TLOC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29A1666-633F-4917-A04C-F2E655B1DFB9}"/>
              </a:ext>
            </a:extLst>
          </p:cNvPr>
          <p:cNvSpPr>
            <a:spLocks noGrp="1"/>
          </p:cNvSpPr>
          <p:nvPr/>
        </p:nvSpPr>
        <p:spPr>
          <a:xfrm>
            <a:off x="1162050" y="3848100"/>
            <a:ext cx="99250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Logo, fotografías, productos, promociones y datos de atención.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6BFF3C3-35F5-43BF-9BF3-25F8119E55C4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6F2221E-09C8-4547-9356-7639169D135E}"/>
              </a:ext>
            </a:extLst>
          </p:cNvPr>
          <p:cNvSpPr>
            <a:spLocks noGrp="1"/>
          </p:cNvSpPr>
          <p:nvPr/>
        </p:nvSpPr>
        <p:spPr>
          <a:xfrm>
            <a:off x="1162050" y="4714875"/>
            <a:ext cx="99250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Dominio y fecha de inicio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38916F-2EBD-4EBD-9250-E7A68802BB84}"/>
              </a:ext>
            </a:extLst>
          </p:cNvPr>
          <p:cNvSpPr>
            <a:spLocks noGrp="1"/>
          </p:cNvSpPr>
          <p:nvPr/>
        </p:nvSpPr>
        <p:spPr>
          <a:xfrm>
            <a:off x="1162050" y="5172075"/>
            <a:ext cx="99250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Revisión de disponibilidad y acuerdo del alojamiento.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B124CC8-F33C-478C-A0C3-D7D1F8D1BB19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66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Entrega en un máximo de 2 semanas desde el inicio acordado.</a:t>
            </a:r>
          </a:p>
        </p:txBody>
      </p:sp>
    </p:spTree>
    <p:extLst>
      <p:ext uri="{BB962C8B-B14F-4D97-AF65-F5344CB8AC3E}">
        <p14:creationId xmlns:p14="http://schemas.microsoft.com/office/powerpoint/2010/main" val="20041265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Microsoft Macintosh PowerPoint</Application>
  <DocSecurity>0</DocSecurity>
  <PresentationFormat>Panorámica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Calibri</vt:lpstr>
      <vt:lpstr>Helvetica Neue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Alfredo Pizarro Rabanal</cp:lastModifiedBy>
  <cp:revision>1</cp:revision>
  <dcterms:created xsi:type="dcterms:W3CDTF">2026-09-05T20:13:56Z</dcterms:created>
  <dcterms:modified xsi:type="dcterms:W3CDTF">2026-09-05T20:52:04Z</dcterms:modified>
</cp:coreProperties>
</file>